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nva Sans" panose="020B0604020202020204" charset="0"/>
      <p:regular r:id="rId18"/>
    </p:embeddedFont>
    <p:embeddedFont>
      <p:font typeface="Inter" panose="020B0604020202020204" charset="0"/>
      <p:regular r:id="rId19"/>
    </p:embeddedFont>
    <p:embeddedFont>
      <p:font typeface="Inter Medium" panose="020B0604020202020204" charset="0"/>
      <p:regular r:id="rId20"/>
    </p:embeddedFont>
    <p:embeddedFont>
      <p:font typeface="League Spartan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heesh g" userId="8af4e09f7992fbb8" providerId="LiveId" clId="{ED3D3D40-F480-40C6-8233-763C3AAB2FB6}"/>
    <pc:docChg chg="custSel modSld">
      <pc:chgData name="sudheesh g" userId="8af4e09f7992fbb8" providerId="LiveId" clId="{ED3D3D40-F480-40C6-8233-763C3AAB2FB6}" dt="2025-03-26T01:04:21.455" v="393" actId="20577"/>
      <pc:docMkLst>
        <pc:docMk/>
      </pc:docMkLst>
      <pc:sldChg chg="modSp mod">
        <pc:chgData name="sudheesh g" userId="8af4e09f7992fbb8" providerId="LiveId" clId="{ED3D3D40-F480-40C6-8233-763C3AAB2FB6}" dt="2025-03-26T01:04:21.455" v="393" actId="20577"/>
        <pc:sldMkLst>
          <pc:docMk/>
          <pc:sldMk cId="0" sldId="256"/>
        </pc:sldMkLst>
        <pc:spChg chg="mod">
          <ac:chgData name="sudheesh g" userId="8af4e09f7992fbb8" providerId="LiveId" clId="{ED3D3D40-F480-40C6-8233-763C3AAB2FB6}" dt="2025-03-26T01:04:21.455" v="393" actId="20577"/>
          <ac:spMkLst>
            <pc:docMk/>
            <pc:sldMk cId="0" sldId="256"/>
            <ac:spMk id="21" creationId="{00000000-0000-0000-0000-000000000000}"/>
          </ac:spMkLst>
        </pc:spChg>
      </pc:sldChg>
      <pc:sldChg chg="modNotesTx">
        <pc:chgData name="sudheesh g" userId="8af4e09f7992fbb8" providerId="LiveId" clId="{ED3D3D40-F480-40C6-8233-763C3AAB2FB6}" dt="2025-03-26T00:42:43.194" v="278" actId="20577"/>
        <pc:sldMkLst>
          <pc:docMk/>
          <pc:sldMk cId="0" sldId="257"/>
        </pc:sldMkLst>
      </pc:sldChg>
      <pc:sldChg chg="modSp mod">
        <pc:chgData name="sudheesh g" userId="8af4e09f7992fbb8" providerId="LiveId" clId="{ED3D3D40-F480-40C6-8233-763C3AAB2FB6}" dt="2025-03-26T01:02:04.876" v="387" actId="20577"/>
        <pc:sldMkLst>
          <pc:docMk/>
          <pc:sldMk cId="0" sldId="259"/>
        </pc:sldMkLst>
        <pc:spChg chg="mod">
          <ac:chgData name="sudheesh g" userId="8af4e09f7992fbb8" providerId="LiveId" clId="{ED3D3D40-F480-40C6-8233-763C3AAB2FB6}" dt="2025-03-26T01:02:04.876" v="387" actId="20577"/>
          <ac:spMkLst>
            <pc:docMk/>
            <pc:sldMk cId="0" sldId="259"/>
            <ac:spMk id="14" creationId="{00000000-0000-0000-0000-000000000000}"/>
          </ac:spMkLst>
        </pc:spChg>
      </pc:sldChg>
      <pc:sldChg chg="modSp mod">
        <pc:chgData name="sudheesh g" userId="8af4e09f7992fbb8" providerId="LiveId" clId="{ED3D3D40-F480-40C6-8233-763C3AAB2FB6}" dt="2025-03-26T00:44:02.184" v="303" actId="20577"/>
        <pc:sldMkLst>
          <pc:docMk/>
          <pc:sldMk cId="0" sldId="262"/>
        </pc:sldMkLst>
        <pc:spChg chg="mod">
          <ac:chgData name="sudheesh g" userId="8af4e09f7992fbb8" providerId="LiveId" clId="{ED3D3D40-F480-40C6-8233-763C3AAB2FB6}" dt="2025-03-26T00:44:02.184" v="303" actId="20577"/>
          <ac:spMkLst>
            <pc:docMk/>
            <pc:sldMk cId="0" sldId="262"/>
            <ac:spMk id="27" creationId="{00000000-0000-0000-0000-000000000000}"/>
          </ac:spMkLst>
        </pc:spChg>
      </pc:sldChg>
      <pc:sldChg chg="modSp mod">
        <pc:chgData name="sudheesh g" userId="8af4e09f7992fbb8" providerId="LiveId" clId="{ED3D3D40-F480-40C6-8233-763C3AAB2FB6}" dt="2025-03-26T00:44:46.507" v="305" actId="20577"/>
        <pc:sldMkLst>
          <pc:docMk/>
          <pc:sldMk cId="0" sldId="265"/>
        </pc:sldMkLst>
        <pc:spChg chg="mod">
          <ac:chgData name="sudheesh g" userId="8af4e09f7992fbb8" providerId="LiveId" clId="{ED3D3D40-F480-40C6-8233-763C3AAB2FB6}" dt="2025-03-26T00:44:46.507" v="305" actId="20577"/>
          <ac:spMkLst>
            <pc:docMk/>
            <pc:sldMk cId="0" sldId="265"/>
            <ac:spMk id="16" creationId="{00000000-0000-0000-0000-000000000000}"/>
          </ac:spMkLst>
        </pc:spChg>
      </pc:sldChg>
      <pc:sldChg chg="modSp mod">
        <pc:chgData name="sudheesh g" userId="8af4e09f7992fbb8" providerId="LiveId" clId="{ED3D3D40-F480-40C6-8233-763C3AAB2FB6}" dt="2025-03-26T00:45:42.036" v="333" actId="20577"/>
        <pc:sldMkLst>
          <pc:docMk/>
          <pc:sldMk cId="0" sldId="268"/>
        </pc:sldMkLst>
        <pc:spChg chg="mod">
          <ac:chgData name="sudheesh g" userId="8af4e09f7992fbb8" providerId="LiveId" clId="{ED3D3D40-F480-40C6-8233-763C3AAB2FB6}" dt="2025-03-26T00:45:42.036" v="333" actId="20577"/>
          <ac:spMkLst>
            <pc:docMk/>
            <pc:sldMk cId="0" sldId="268"/>
            <ac:spMk id="16" creationId="{00000000-0000-0000-0000-000000000000}"/>
          </ac:spMkLst>
        </pc:spChg>
      </pc:sldChg>
      <pc:sldChg chg="modSp mod">
        <pc:chgData name="sudheesh g" userId="8af4e09f7992fbb8" providerId="LiveId" clId="{ED3D3D40-F480-40C6-8233-763C3AAB2FB6}" dt="2025-03-26T00:51:54.317" v="343" actId="20577"/>
        <pc:sldMkLst>
          <pc:docMk/>
          <pc:sldMk cId="1612303182" sldId="272"/>
        </pc:sldMkLst>
        <pc:spChg chg="mod">
          <ac:chgData name="sudheesh g" userId="8af4e09f7992fbb8" providerId="LiveId" clId="{ED3D3D40-F480-40C6-8233-763C3AAB2FB6}" dt="2025-03-26T00:46:17.845" v="334" actId="207"/>
          <ac:spMkLst>
            <pc:docMk/>
            <pc:sldMk cId="1612303182" sldId="272"/>
            <ac:spMk id="10" creationId="{F0379C25-D8CF-509B-9E50-E6926F3B4AE1}"/>
          </ac:spMkLst>
        </pc:spChg>
        <pc:spChg chg="mod">
          <ac:chgData name="sudheesh g" userId="8af4e09f7992fbb8" providerId="LiveId" clId="{ED3D3D40-F480-40C6-8233-763C3AAB2FB6}" dt="2025-03-26T00:51:54.317" v="343" actId="20577"/>
          <ac:spMkLst>
            <pc:docMk/>
            <pc:sldMk cId="1612303182" sldId="272"/>
            <ac:spMk id="21" creationId="{307E70F2-C71E-64E9-689A-A203EC6978A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07E533-22F1-4D05-BE86-B7102E6D6105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B2B7D2-7524-4098-B3AD-7D5D999458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663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Cricket is a huge sport in India, but the lack of access to public cricket data has always meant the analytical side of cricket left a lot unexplored. This is why we decided to scrape our own dataset from the biggest cricket website, ESPNcricinfo. </a:t>
            </a:r>
          </a:p>
          <a:p>
            <a:r>
              <a:rPr lang="en-IN" dirty="0"/>
              <a:t>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B2B7D2-7524-4098-B3AD-7D5D9994587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698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2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07582" y="244801"/>
            <a:ext cx="10755225" cy="9797399"/>
            <a:chOff x="0" y="0"/>
            <a:chExt cx="2832652" cy="25803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32652" cy="2580385"/>
            </a:xfrm>
            <a:custGeom>
              <a:avLst/>
              <a:gdLst/>
              <a:ahLst/>
              <a:cxnLst/>
              <a:rect l="l" t="t" r="r" b="b"/>
              <a:pathLst>
                <a:path w="2832652" h="2580385">
                  <a:moveTo>
                    <a:pt x="37431" y="0"/>
                  </a:moveTo>
                  <a:lnTo>
                    <a:pt x="2795221" y="0"/>
                  </a:lnTo>
                  <a:cubicBezTo>
                    <a:pt x="2815893" y="0"/>
                    <a:pt x="2832652" y="16758"/>
                    <a:pt x="2832652" y="37431"/>
                  </a:cubicBezTo>
                  <a:lnTo>
                    <a:pt x="2832652" y="2542954"/>
                  </a:lnTo>
                  <a:cubicBezTo>
                    <a:pt x="2832652" y="2552881"/>
                    <a:pt x="2828708" y="2562402"/>
                    <a:pt x="2821688" y="2569422"/>
                  </a:cubicBezTo>
                  <a:cubicBezTo>
                    <a:pt x="2814669" y="2576441"/>
                    <a:pt x="2805148" y="2580385"/>
                    <a:pt x="2795221" y="2580385"/>
                  </a:cubicBezTo>
                  <a:lnTo>
                    <a:pt x="37431" y="2580385"/>
                  </a:lnTo>
                  <a:cubicBezTo>
                    <a:pt x="27504" y="2580385"/>
                    <a:pt x="17983" y="2576441"/>
                    <a:pt x="10963" y="2569422"/>
                  </a:cubicBezTo>
                  <a:cubicBezTo>
                    <a:pt x="3944" y="2562402"/>
                    <a:pt x="0" y="2552881"/>
                    <a:pt x="0" y="2542954"/>
                  </a:cubicBezTo>
                  <a:lnTo>
                    <a:pt x="0" y="37431"/>
                  </a:lnTo>
                  <a:cubicBezTo>
                    <a:pt x="0" y="27504"/>
                    <a:pt x="3944" y="17983"/>
                    <a:pt x="10963" y="10963"/>
                  </a:cubicBezTo>
                  <a:cubicBezTo>
                    <a:pt x="17983" y="3944"/>
                    <a:pt x="27504" y="0"/>
                    <a:pt x="3743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32652" cy="2618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15331" y="496223"/>
            <a:ext cx="1064955" cy="1064955"/>
            <a:chOff x="0" y="0"/>
            <a:chExt cx="1419940" cy="1419940"/>
          </a:xfrm>
        </p:grpSpPr>
        <p:grpSp>
          <p:nvGrpSpPr>
            <p:cNvPr id="6" name="Group 6"/>
            <p:cNvGrpSpPr/>
            <p:nvPr/>
          </p:nvGrpSpPr>
          <p:grpSpPr>
            <a:xfrm>
              <a:off x="24253" y="24253"/>
              <a:ext cx="1371434" cy="1371434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132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 rot="-2700000">
              <a:off x="207945" y="207945"/>
              <a:ext cx="1004049" cy="1004049"/>
            </a:xfrm>
            <a:custGeom>
              <a:avLst/>
              <a:gdLst/>
              <a:ahLst/>
              <a:cxnLst/>
              <a:rect l="l" t="t" r="r" b="b"/>
              <a:pathLst>
                <a:path w="1004049" h="1004049">
                  <a:moveTo>
                    <a:pt x="0" y="0"/>
                  </a:moveTo>
                  <a:lnTo>
                    <a:pt x="1004050" y="0"/>
                  </a:lnTo>
                  <a:lnTo>
                    <a:pt x="1004050" y="1004050"/>
                  </a:lnTo>
                  <a:lnTo>
                    <a:pt x="0" y="1004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345238" y="8707633"/>
            <a:ext cx="1028575" cy="102857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132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2700000">
            <a:off x="16501197" y="8863592"/>
            <a:ext cx="753037" cy="753037"/>
          </a:xfrm>
          <a:custGeom>
            <a:avLst/>
            <a:gdLst/>
            <a:ahLst/>
            <a:cxnLst/>
            <a:rect l="l" t="t" r="r" b="b"/>
            <a:pathLst>
              <a:path w="753037" h="753037">
                <a:moveTo>
                  <a:pt x="0" y="0"/>
                </a:moveTo>
                <a:lnTo>
                  <a:pt x="753037" y="0"/>
                </a:lnTo>
                <a:lnTo>
                  <a:pt x="753037" y="753037"/>
                </a:lnTo>
                <a:lnTo>
                  <a:pt x="0" y="753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4" name="Group 14"/>
          <p:cNvGrpSpPr/>
          <p:nvPr/>
        </p:nvGrpSpPr>
        <p:grpSpPr>
          <a:xfrm>
            <a:off x="9384283" y="496223"/>
            <a:ext cx="7811303" cy="1064955"/>
            <a:chOff x="0" y="0"/>
            <a:chExt cx="2057298" cy="28048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57298" cy="280482"/>
            </a:xfrm>
            <a:custGeom>
              <a:avLst/>
              <a:gdLst/>
              <a:ahLst/>
              <a:cxnLst/>
              <a:rect l="l" t="t" r="r" b="b"/>
              <a:pathLst>
                <a:path w="2057298" h="280482">
                  <a:moveTo>
                    <a:pt x="99112" y="0"/>
                  </a:moveTo>
                  <a:lnTo>
                    <a:pt x="1958186" y="0"/>
                  </a:lnTo>
                  <a:cubicBezTo>
                    <a:pt x="1984472" y="0"/>
                    <a:pt x="2009682" y="10442"/>
                    <a:pt x="2028269" y="29029"/>
                  </a:cubicBezTo>
                  <a:cubicBezTo>
                    <a:pt x="2046856" y="47616"/>
                    <a:pt x="2057298" y="72826"/>
                    <a:pt x="2057298" y="99112"/>
                  </a:cubicBezTo>
                  <a:lnTo>
                    <a:pt x="2057298" y="181370"/>
                  </a:lnTo>
                  <a:cubicBezTo>
                    <a:pt x="2057298" y="207656"/>
                    <a:pt x="2046856" y="232866"/>
                    <a:pt x="2028269" y="251453"/>
                  </a:cubicBezTo>
                  <a:cubicBezTo>
                    <a:pt x="2009682" y="270040"/>
                    <a:pt x="1984472" y="280482"/>
                    <a:pt x="1958186" y="280482"/>
                  </a:cubicBezTo>
                  <a:lnTo>
                    <a:pt x="99112" y="280482"/>
                  </a:lnTo>
                  <a:cubicBezTo>
                    <a:pt x="72826" y="280482"/>
                    <a:pt x="47616" y="270040"/>
                    <a:pt x="29029" y="251453"/>
                  </a:cubicBezTo>
                  <a:cubicBezTo>
                    <a:pt x="10442" y="232866"/>
                    <a:pt x="0" y="207656"/>
                    <a:pt x="0" y="181370"/>
                  </a:cubicBezTo>
                  <a:lnTo>
                    <a:pt x="0" y="99112"/>
                  </a:lnTo>
                  <a:cubicBezTo>
                    <a:pt x="0" y="72826"/>
                    <a:pt x="10442" y="47616"/>
                    <a:pt x="29029" y="29029"/>
                  </a:cubicBezTo>
                  <a:cubicBezTo>
                    <a:pt x="47616" y="10442"/>
                    <a:pt x="72826" y="0"/>
                    <a:pt x="991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13263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057298" cy="3185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252190" y="8707633"/>
            <a:ext cx="7811303" cy="1064955"/>
            <a:chOff x="0" y="0"/>
            <a:chExt cx="2057298" cy="28048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57298" cy="280482"/>
            </a:xfrm>
            <a:custGeom>
              <a:avLst/>
              <a:gdLst/>
              <a:ahLst/>
              <a:cxnLst/>
              <a:rect l="l" t="t" r="r" b="b"/>
              <a:pathLst>
                <a:path w="2057298" h="280482">
                  <a:moveTo>
                    <a:pt x="99112" y="0"/>
                  </a:moveTo>
                  <a:lnTo>
                    <a:pt x="1958186" y="0"/>
                  </a:lnTo>
                  <a:cubicBezTo>
                    <a:pt x="1984472" y="0"/>
                    <a:pt x="2009682" y="10442"/>
                    <a:pt x="2028269" y="29029"/>
                  </a:cubicBezTo>
                  <a:cubicBezTo>
                    <a:pt x="2046856" y="47616"/>
                    <a:pt x="2057298" y="72826"/>
                    <a:pt x="2057298" y="99112"/>
                  </a:cubicBezTo>
                  <a:lnTo>
                    <a:pt x="2057298" y="181370"/>
                  </a:lnTo>
                  <a:cubicBezTo>
                    <a:pt x="2057298" y="207656"/>
                    <a:pt x="2046856" y="232866"/>
                    <a:pt x="2028269" y="251453"/>
                  </a:cubicBezTo>
                  <a:cubicBezTo>
                    <a:pt x="2009682" y="270040"/>
                    <a:pt x="1984472" y="280482"/>
                    <a:pt x="1958186" y="280482"/>
                  </a:cubicBezTo>
                  <a:lnTo>
                    <a:pt x="99112" y="280482"/>
                  </a:lnTo>
                  <a:cubicBezTo>
                    <a:pt x="72826" y="280482"/>
                    <a:pt x="47616" y="270040"/>
                    <a:pt x="29029" y="251453"/>
                  </a:cubicBezTo>
                  <a:cubicBezTo>
                    <a:pt x="10442" y="232866"/>
                    <a:pt x="0" y="207656"/>
                    <a:pt x="0" y="181370"/>
                  </a:cubicBezTo>
                  <a:lnTo>
                    <a:pt x="0" y="99112"/>
                  </a:lnTo>
                  <a:cubicBezTo>
                    <a:pt x="0" y="72826"/>
                    <a:pt x="10442" y="47616"/>
                    <a:pt x="29029" y="29029"/>
                  </a:cubicBezTo>
                  <a:cubicBezTo>
                    <a:pt x="47616" y="10442"/>
                    <a:pt x="72826" y="0"/>
                    <a:pt x="991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13263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057298" cy="3185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028700" y="1028700"/>
            <a:ext cx="5276464" cy="7969659"/>
          </a:xfrm>
          <a:custGeom>
            <a:avLst/>
            <a:gdLst/>
            <a:ahLst/>
            <a:cxnLst/>
            <a:rect l="l" t="t" r="r" b="b"/>
            <a:pathLst>
              <a:path w="5276464" h="7969659">
                <a:moveTo>
                  <a:pt x="0" y="0"/>
                </a:moveTo>
                <a:lnTo>
                  <a:pt x="5276464" y="0"/>
                </a:lnTo>
                <a:lnTo>
                  <a:pt x="5276464" y="7969659"/>
                </a:lnTo>
                <a:lnTo>
                  <a:pt x="0" y="79696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4659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8635717" y="5898212"/>
            <a:ext cx="8044100" cy="1225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4"/>
              </a:lnSpc>
            </a:pPr>
            <a:r>
              <a:rPr lang="en-US" sz="3517">
                <a:solidFill>
                  <a:srgbClr val="013263"/>
                </a:solidFill>
                <a:latin typeface="Inter"/>
                <a:ea typeface="Inter"/>
                <a:cs typeface="Inter"/>
                <a:sym typeface="Inter"/>
              </a:rPr>
              <a:t>Social Web Analytics</a:t>
            </a:r>
          </a:p>
          <a:p>
            <a:pPr algn="ctr">
              <a:lnSpc>
                <a:spcPts val="4924"/>
              </a:lnSpc>
              <a:spcBef>
                <a:spcPct val="0"/>
              </a:spcBef>
            </a:pPr>
            <a:endParaRPr lang="en-US" sz="3517" dirty="0">
              <a:solidFill>
                <a:srgbClr val="0132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959555" y="3407446"/>
            <a:ext cx="9651279" cy="2327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23"/>
              </a:lnSpc>
              <a:spcBef>
                <a:spcPct val="0"/>
              </a:spcBef>
            </a:pPr>
            <a:r>
              <a:rPr lang="en-US" sz="6659">
                <a:solidFill>
                  <a:srgbClr val="0132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IPL DATA SCRAPER AND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2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87002" y="244801"/>
            <a:ext cx="13712091" cy="3356327"/>
            <a:chOff x="0" y="0"/>
            <a:chExt cx="3611415" cy="8839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11415" cy="883971"/>
            </a:xfrm>
            <a:custGeom>
              <a:avLst/>
              <a:gdLst/>
              <a:ahLst/>
              <a:cxnLst/>
              <a:rect l="l" t="t" r="r" b="b"/>
              <a:pathLst>
                <a:path w="3611415" h="883971">
                  <a:moveTo>
                    <a:pt x="29359" y="0"/>
                  </a:moveTo>
                  <a:lnTo>
                    <a:pt x="3582055" y="0"/>
                  </a:lnTo>
                  <a:cubicBezTo>
                    <a:pt x="3598270" y="0"/>
                    <a:pt x="3611415" y="13145"/>
                    <a:pt x="3611415" y="29359"/>
                  </a:cubicBezTo>
                  <a:lnTo>
                    <a:pt x="3611415" y="854611"/>
                  </a:lnTo>
                  <a:cubicBezTo>
                    <a:pt x="3611415" y="862398"/>
                    <a:pt x="3608322" y="869866"/>
                    <a:pt x="3602816" y="875372"/>
                  </a:cubicBezTo>
                  <a:cubicBezTo>
                    <a:pt x="3597309" y="880878"/>
                    <a:pt x="3589842" y="883971"/>
                    <a:pt x="3582055" y="883971"/>
                  </a:cubicBezTo>
                  <a:lnTo>
                    <a:pt x="29359" y="883971"/>
                  </a:lnTo>
                  <a:cubicBezTo>
                    <a:pt x="13145" y="883971"/>
                    <a:pt x="0" y="870826"/>
                    <a:pt x="0" y="854611"/>
                  </a:cubicBezTo>
                  <a:lnTo>
                    <a:pt x="0" y="29359"/>
                  </a:lnTo>
                  <a:cubicBezTo>
                    <a:pt x="0" y="21573"/>
                    <a:pt x="3093" y="14105"/>
                    <a:pt x="8599" y="8599"/>
                  </a:cubicBezTo>
                  <a:cubicBezTo>
                    <a:pt x="14105" y="3093"/>
                    <a:pt x="21573" y="0"/>
                    <a:pt x="2935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611415" cy="9220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87002" y="3740035"/>
            <a:ext cx="13712091" cy="6302164"/>
            <a:chOff x="0" y="0"/>
            <a:chExt cx="3611415" cy="16598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11415" cy="1659829"/>
            </a:xfrm>
            <a:custGeom>
              <a:avLst/>
              <a:gdLst/>
              <a:ahLst/>
              <a:cxnLst/>
              <a:rect l="l" t="t" r="r" b="b"/>
              <a:pathLst>
                <a:path w="3611415" h="1659829">
                  <a:moveTo>
                    <a:pt x="29359" y="0"/>
                  </a:moveTo>
                  <a:lnTo>
                    <a:pt x="3582055" y="0"/>
                  </a:lnTo>
                  <a:cubicBezTo>
                    <a:pt x="3598270" y="0"/>
                    <a:pt x="3611415" y="13145"/>
                    <a:pt x="3611415" y="29359"/>
                  </a:cubicBezTo>
                  <a:lnTo>
                    <a:pt x="3611415" y="1630470"/>
                  </a:lnTo>
                  <a:cubicBezTo>
                    <a:pt x="3611415" y="1638256"/>
                    <a:pt x="3608322" y="1645724"/>
                    <a:pt x="3602816" y="1651230"/>
                  </a:cubicBezTo>
                  <a:cubicBezTo>
                    <a:pt x="3597309" y="1656736"/>
                    <a:pt x="3589842" y="1659829"/>
                    <a:pt x="3582055" y="1659829"/>
                  </a:cubicBezTo>
                  <a:lnTo>
                    <a:pt x="29359" y="1659829"/>
                  </a:lnTo>
                  <a:cubicBezTo>
                    <a:pt x="13145" y="1659829"/>
                    <a:pt x="0" y="1646685"/>
                    <a:pt x="0" y="1630470"/>
                  </a:cubicBezTo>
                  <a:lnTo>
                    <a:pt x="0" y="29359"/>
                  </a:lnTo>
                  <a:cubicBezTo>
                    <a:pt x="0" y="21573"/>
                    <a:pt x="3093" y="14105"/>
                    <a:pt x="8599" y="8599"/>
                  </a:cubicBezTo>
                  <a:cubicBezTo>
                    <a:pt x="14105" y="3093"/>
                    <a:pt x="21573" y="0"/>
                    <a:pt x="293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611415" cy="1697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181844" y="3955238"/>
            <a:ext cx="754201" cy="754201"/>
            <a:chOff x="0" y="0"/>
            <a:chExt cx="1005602" cy="1005602"/>
          </a:xfrm>
        </p:grpSpPr>
        <p:grpSp>
          <p:nvGrpSpPr>
            <p:cNvPr id="9" name="Group 9"/>
            <p:cNvGrpSpPr/>
            <p:nvPr/>
          </p:nvGrpSpPr>
          <p:grpSpPr>
            <a:xfrm>
              <a:off x="17176" y="17176"/>
              <a:ext cx="971250" cy="97125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 rot="-2700000">
              <a:off x="147267" y="147267"/>
              <a:ext cx="711068" cy="711068"/>
            </a:xfrm>
            <a:custGeom>
              <a:avLst/>
              <a:gdLst/>
              <a:ahLst/>
              <a:cxnLst/>
              <a:rect l="l" t="t" r="r" b="b"/>
              <a:pathLst>
                <a:path w="711068" h="711068">
                  <a:moveTo>
                    <a:pt x="0" y="0"/>
                  </a:moveTo>
                  <a:lnTo>
                    <a:pt x="711068" y="0"/>
                  </a:lnTo>
                  <a:lnTo>
                    <a:pt x="711068" y="711068"/>
                  </a:lnTo>
                  <a:lnTo>
                    <a:pt x="0" y="711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96341" y="9120861"/>
            <a:ext cx="754201" cy="754201"/>
            <a:chOff x="0" y="0"/>
            <a:chExt cx="1005602" cy="1005602"/>
          </a:xfrm>
        </p:grpSpPr>
        <p:grpSp>
          <p:nvGrpSpPr>
            <p:cNvPr id="14" name="Group 14"/>
            <p:cNvGrpSpPr/>
            <p:nvPr/>
          </p:nvGrpSpPr>
          <p:grpSpPr>
            <a:xfrm>
              <a:off x="17176" y="17176"/>
              <a:ext cx="971250" cy="971250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Freeform 17"/>
            <p:cNvSpPr/>
            <p:nvPr/>
          </p:nvSpPr>
          <p:spPr>
            <a:xfrm rot="-2700000">
              <a:off x="147267" y="147267"/>
              <a:ext cx="711068" cy="711068"/>
            </a:xfrm>
            <a:custGeom>
              <a:avLst/>
              <a:gdLst/>
              <a:ahLst/>
              <a:cxnLst/>
              <a:rect l="l" t="t" r="r" b="b"/>
              <a:pathLst>
                <a:path w="711068" h="711068">
                  <a:moveTo>
                    <a:pt x="0" y="0"/>
                  </a:moveTo>
                  <a:lnTo>
                    <a:pt x="711068" y="0"/>
                  </a:lnTo>
                  <a:lnTo>
                    <a:pt x="711068" y="711068"/>
                  </a:lnTo>
                  <a:lnTo>
                    <a:pt x="0" y="711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Freeform 18"/>
          <p:cNvSpPr/>
          <p:nvPr/>
        </p:nvSpPr>
        <p:spPr>
          <a:xfrm rot="-5400000">
            <a:off x="-2636941" y="3058326"/>
            <a:ext cx="9561243" cy="3934193"/>
          </a:xfrm>
          <a:custGeom>
            <a:avLst/>
            <a:gdLst/>
            <a:ahLst/>
            <a:cxnLst/>
            <a:rect l="l" t="t" r="r" b="b"/>
            <a:pathLst>
              <a:path w="9561243" h="3934193">
                <a:moveTo>
                  <a:pt x="0" y="0"/>
                </a:moveTo>
                <a:lnTo>
                  <a:pt x="9561243" y="0"/>
                </a:lnTo>
                <a:lnTo>
                  <a:pt x="9561243" y="3934192"/>
                </a:lnTo>
                <a:lnTo>
                  <a:pt x="0" y="39341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4692" b="-2140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9"/>
          <p:cNvSpPr txBox="1"/>
          <p:nvPr/>
        </p:nvSpPr>
        <p:spPr>
          <a:xfrm>
            <a:off x="5350543" y="4528169"/>
            <a:ext cx="11558275" cy="5346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049" lvl="1" indent="-271025" algn="just">
              <a:lnSpc>
                <a:spcPts val="351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ESPNcricinfo is the most detailed source of cricket data — but lacks an open API.</a:t>
            </a:r>
          </a:p>
          <a:p>
            <a:pPr marL="542049" lvl="1" indent="-271025" algn="just">
              <a:lnSpc>
                <a:spcPts val="351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Their live data is protected with token-based authentication.</a:t>
            </a:r>
          </a:p>
          <a:p>
            <a:pPr marL="542049" lvl="1" indent="-271025" algn="just">
              <a:lnSpc>
                <a:spcPts val="351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Standard scraping tools like BeautifulSoup or Selenium struggled with JavaScript-heavy pages.</a:t>
            </a:r>
          </a:p>
          <a:p>
            <a:pPr marL="542049" lvl="1" indent="-271025" algn="just">
              <a:lnSpc>
                <a:spcPts val="351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Real-time scraping was not feasible due to API security blocks.</a:t>
            </a:r>
          </a:p>
          <a:p>
            <a:pPr marL="542049" lvl="1" indent="-271025" algn="just">
              <a:lnSpc>
                <a:spcPts val="351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Our objective: Analyze IPL ball-by-ball data from 2008–2024.</a:t>
            </a:r>
          </a:p>
          <a:p>
            <a:pPr algn="just">
              <a:lnSpc>
                <a:spcPts val="3514"/>
              </a:lnSpc>
            </a:pPr>
            <a:endParaRPr lang="en-US" sz="251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3514"/>
              </a:lnSpc>
            </a:pPr>
            <a:r>
              <a:rPr lang="en-US" sz="251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Solution: Use match-by-match scraping and extract commentary + scorecard data</a:t>
            </a:r>
          </a:p>
          <a:p>
            <a:pPr algn="just">
              <a:lnSpc>
                <a:spcPts val="3514"/>
              </a:lnSpc>
              <a:spcBef>
                <a:spcPct val="0"/>
              </a:spcBef>
            </a:pPr>
            <a:endParaRPr lang="en-US" sz="251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3514"/>
              </a:lnSpc>
              <a:spcBef>
                <a:spcPct val="0"/>
              </a:spcBef>
            </a:pPr>
            <a:endParaRPr lang="en-US" sz="251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927151" y="591832"/>
            <a:ext cx="12631794" cy="261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</a:pPr>
            <a:r>
              <a:rPr lang="en-US" sz="8800">
                <a:solidFill>
                  <a:srgbClr val="0132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2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907" y="244801"/>
            <a:ext cx="7485136" cy="4898699"/>
            <a:chOff x="0" y="0"/>
            <a:chExt cx="1971394" cy="12901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71394" cy="1290192"/>
            </a:xfrm>
            <a:custGeom>
              <a:avLst/>
              <a:gdLst/>
              <a:ahLst/>
              <a:cxnLst/>
              <a:rect l="l" t="t" r="r" b="b"/>
              <a:pathLst>
                <a:path w="1971394" h="1290192">
                  <a:moveTo>
                    <a:pt x="53784" y="0"/>
                  </a:moveTo>
                  <a:lnTo>
                    <a:pt x="1917610" y="0"/>
                  </a:lnTo>
                  <a:cubicBezTo>
                    <a:pt x="1931874" y="0"/>
                    <a:pt x="1945555" y="5667"/>
                    <a:pt x="1955641" y="15753"/>
                  </a:cubicBezTo>
                  <a:cubicBezTo>
                    <a:pt x="1965727" y="25839"/>
                    <a:pt x="1971394" y="39520"/>
                    <a:pt x="1971394" y="53784"/>
                  </a:cubicBezTo>
                  <a:lnTo>
                    <a:pt x="1971394" y="1236409"/>
                  </a:lnTo>
                  <a:cubicBezTo>
                    <a:pt x="1971394" y="1250673"/>
                    <a:pt x="1965727" y="1264353"/>
                    <a:pt x="1955641" y="1274440"/>
                  </a:cubicBezTo>
                  <a:cubicBezTo>
                    <a:pt x="1945555" y="1284526"/>
                    <a:pt x="1931874" y="1290192"/>
                    <a:pt x="1917610" y="1290192"/>
                  </a:cubicBezTo>
                  <a:lnTo>
                    <a:pt x="53784" y="1290192"/>
                  </a:lnTo>
                  <a:cubicBezTo>
                    <a:pt x="39520" y="1290192"/>
                    <a:pt x="25839" y="1284526"/>
                    <a:pt x="15753" y="1274440"/>
                  </a:cubicBezTo>
                  <a:cubicBezTo>
                    <a:pt x="5667" y="1264353"/>
                    <a:pt x="0" y="1250673"/>
                    <a:pt x="0" y="1236409"/>
                  </a:cubicBezTo>
                  <a:lnTo>
                    <a:pt x="0" y="53784"/>
                  </a:lnTo>
                  <a:cubicBezTo>
                    <a:pt x="0" y="39520"/>
                    <a:pt x="5667" y="25839"/>
                    <a:pt x="15753" y="15753"/>
                  </a:cubicBezTo>
                  <a:cubicBezTo>
                    <a:pt x="25839" y="5667"/>
                    <a:pt x="39520" y="0"/>
                    <a:pt x="5378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71394" cy="1328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59538" y="244801"/>
            <a:ext cx="10039556" cy="9797399"/>
            <a:chOff x="0" y="0"/>
            <a:chExt cx="2644163" cy="25803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44163" cy="2580385"/>
            </a:xfrm>
            <a:custGeom>
              <a:avLst/>
              <a:gdLst/>
              <a:ahLst/>
              <a:cxnLst/>
              <a:rect l="l" t="t" r="r" b="b"/>
              <a:pathLst>
                <a:path w="2644163" h="2580385">
                  <a:moveTo>
                    <a:pt x="40099" y="0"/>
                  </a:moveTo>
                  <a:lnTo>
                    <a:pt x="2604064" y="0"/>
                  </a:lnTo>
                  <a:cubicBezTo>
                    <a:pt x="2614699" y="0"/>
                    <a:pt x="2624898" y="4225"/>
                    <a:pt x="2632418" y="11745"/>
                  </a:cubicBezTo>
                  <a:cubicBezTo>
                    <a:pt x="2639938" y="19265"/>
                    <a:pt x="2644163" y="29464"/>
                    <a:pt x="2644163" y="40099"/>
                  </a:cubicBezTo>
                  <a:lnTo>
                    <a:pt x="2644163" y="2540286"/>
                  </a:lnTo>
                  <a:cubicBezTo>
                    <a:pt x="2644163" y="2562432"/>
                    <a:pt x="2626210" y="2580385"/>
                    <a:pt x="2604064" y="2580385"/>
                  </a:cubicBezTo>
                  <a:lnTo>
                    <a:pt x="40099" y="2580385"/>
                  </a:lnTo>
                  <a:cubicBezTo>
                    <a:pt x="17953" y="2580385"/>
                    <a:pt x="0" y="2562432"/>
                    <a:pt x="0" y="2540286"/>
                  </a:cubicBezTo>
                  <a:lnTo>
                    <a:pt x="0" y="40099"/>
                  </a:lnTo>
                  <a:cubicBezTo>
                    <a:pt x="0" y="17953"/>
                    <a:pt x="17953" y="0"/>
                    <a:pt x="4009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644163" cy="2618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02215" y="9083990"/>
            <a:ext cx="754201" cy="754201"/>
            <a:chOff x="0" y="0"/>
            <a:chExt cx="1005602" cy="1005602"/>
          </a:xfrm>
        </p:grpSpPr>
        <p:grpSp>
          <p:nvGrpSpPr>
            <p:cNvPr id="9" name="Group 9"/>
            <p:cNvGrpSpPr/>
            <p:nvPr/>
          </p:nvGrpSpPr>
          <p:grpSpPr>
            <a:xfrm>
              <a:off x="17176" y="17176"/>
              <a:ext cx="971250" cy="97125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 rot="-2700000">
              <a:off x="147267" y="147267"/>
              <a:ext cx="711068" cy="711068"/>
            </a:xfrm>
            <a:custGeom>
              <a:avLst/>
              <a:gdLst/>
              <a:ahLst/>
              <a:cxnLst/>
              <a:rect l="l" t="t" r="r" b="b"/>
              <a:pathLst>
                <a:path w="711068" h="711068">
                  <a:moveTo>
                    <a:pt x="0" y="0"/>
                  </a:moveTo>
                  <a:lnTo>
                    <a:pt x="711068" y="0"/>
                  </a:lnTo>
                  <a:lnTo>
                    <a:pt x="711068" y="711068"/>
                  </a:lnTo>
                  <a:lnTo>
                    <a:pt x="0" y="711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702215" y="505993"/>
            <a:ext cx="754201" cy="754201"/>
            <a:chOff x="0" y="0"/>
            <a:chExt cx="1005602" cy="1005602"/>
          </a:xfrm>
        </p:grpSpPr>
        <p:grpSp>
          <p:nvGrpSpPr>
            <p:cNvPr id="14" name="Group 14"/>
            <p:cNvGrpSpPr/>
            <p:nvPr/>
          </p:nvGrpSpPr>
          <p:grpSpPr>
            <a:xfrm>
              <a:off x="17176" y="17176"/>
              <a:ext cx="971250" cy="971250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Freeform 17"/>
            <p:cNvSpPr/>
            <p:nvPr/>
          </p:nvSpPr>
          <p:spPr>
            <a:xfrm rot="-2700000">
              <a:off x="147267" y="147267"/>
              <a:ext cx="711068" cy="711068"/>
            </a:xfrm>
            <a:custGeom>
              <a:avLst/>
              <a:gdLst/>
              <a:ahLst/>
              <a:cxnLst/>
              <a:rect l="l" t="t" r="r" b="b"/>
              <a:pathLst>
                <a:path w="711068" h="711068">
                  <a:moveTo>
                    <a:pt x="0" y="0"/>
                  </a:moveTo>
                  <a:lnTo>
                    <a:pt x="711068" y="0"/>
                  </a:lnTo>
                  <a:lnTo>
                    <a:pt x="711068" y="711068"/>
                  </a:lnTo>
                  <a:lnTo>
                    <a:pt x="0" y="711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88907" y="5521542"/>
            <a:ext cx="7674043" cy="4316649"/>
          </a:xfrm>
          <a:custGeom>
            <a:avLst/>
            <a:gdLst/>
            <a:ahLst/>
            <a:cxnLst/>
            <a:rect l="l" t="t" r="r" b="b"/>
            <a:pathLst>
              <a:path w="7674043" h="4316649">
                <a:moveTo>
                  <a:pt x="0" y="0"/>
                </a:moveTo>
                <a:lnTo>
                  <a:pt x="7674043" y="0"/>
                </a:lnTo>
                <a:lnTo>
                  <a:pt x="7674043" y="4316649"/>
                </a:lnTo>
                <a:lnTo>
                  <a:pt x="0" y="43166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9"/>
          <p:cNvSpPr txBox="1"/>
          <p:nvPr/>
        </p:nvSpPr>
        <p:spPr>
          <a:xfrm>
            <a:off x="9099613" y="1550209"/>
            <a:ext cx="7959405" cy="717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596" lvl="1" indent="-340298" algn="just">
              <a:lnSpc>
                <a:spcPts val="4413"/>
              </a:lnSpc>
              <a:buFont typeface="Arial"/>
              <a:buChar char="•"/>
            </a:pPr>
            <a:r>
              <a:rPr lang="en-US" sz="315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Playwright (Python): Handles dynamic websites, dropdowns, and scrolling</a:t>
            </a:r>
          </a:p>
          <a:p>
            <a:pPr marL="680596" lvl="1" indent="-340298" algn="just">
              <a:lnSpc>
                <a:spcPts val="4413"/>
              </a:lnSpc>
              <a:buFont typeface="Arial"/>
              <a:buChar char="•"/>
            </a:pPr>
            <a:r>
              <a:rPr lang="en-US" sz="315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Python: Core programming language for all logic and processing</a:t>
            </a:r>
          </a:p>
          <a:p>
            <a:pPr marL="680596" lvl="1" indent="-340298" algn="just">
              <a:lnSpc>
                <a:spcPts val="4413"/>
              </a:lnSpc>
              <a:buFont typeface="Arial"/>
              <a:buChar char="•"/>
            </a:pPr>
            <a:r>
              <a:rPr lang="en-US" sz="315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Pandas: DataFrame manipulation and transformations</a:t>
            </a:r>
          </a:p>
          <a:p>
            <a:pPr marL="680596" lvl="1" indent="-340298" algn="just">
              <a:lnSpc>
                <a:spcPts val="4413"/>
              </a:lnSpc>
              <a:buFont typeface="Arial"/>
              <a:buChar char="•"/>
            </a:pPr>
            <a:r>
              <a:rPr lang="en-US" sz="315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ujson: Ultra-fast JSON parsing from scraped data</a:t>
            </a:r>
          </a:p>
          <a:p>
            <a:pPr marL="680596" lvl="1" indent="-340298" algn="just">
              <a:lnSpc>
                <a:spcPts val="4413"/>
              </a:lnSpc>
              <a:buFont typeface="Arial"/>
              <a:buChar char="•"/>
            </a:pPr>
            <a:r>
              <a:rPr lang="en-US" sz="315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Plotly &amp; Matplotlib: For interactive and static data visualizations</a:t>
            </a:r>
          </a:p>
          <a:p>
            <a:pPr marL="680596" lvl="1" indent="-340298" algn="just">
              <a:lnSpc>
                <a:spcPts val="4413"/>
              </a:lnSpc>
              <a:buFont typeface="Arial"/>
              <a:buChar char="•"/>
            </a:pPr>
            <a:r>
              <a:rPr lang="en-US" sz="315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Excel: Stored and looped through 1000+ match IDs for scraping</a:t>
            </a:r>
          </a:p>
          <a:p>
            <a:pPr algn="just">
              <a:lnSpc>
                <a:spcPts val="4413"/>
              </a:lnSpc>
              <a:spcBef>
                <a:spcPct val="0"/>
              </a:spcBef>
            </a:pPr>
            <a:endParaRPr lang="en-US" sz="315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28700" y="1854426"/>
            <a:ext cx="5667272" cy="1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86"/>
              </a:lnSpc>
            </a:pPr>
            <a:r>
              <a:rPr lang="en-US" sz="5800">
                <a:solidFill>
                  <a:srgbClr val="0132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TECHNOLOGY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2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907" y="244801"/>
            <a:ext cx="9881749" cy="3496473"/>
            <a:chOff x="0" y="0"/>
            <a:chExt cx="2602600" cy="9208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02600" cy="920882"/>
            </a:xfrm>
            <a:custGeom>
              <a:avLst/>
              <a:gdLst/>
              <a:ahLst/>
              <a:cxnLst/>
              <a:rect l="l" t="t" r="r" b="b"/>
              <a:pathLst>
                <a:path w="2602600" h="920882">
                  <a:moveTo>
                    <a:pt x="40740" y="0"/>
                  </a:moveTo>
                  <a:lnTo>
                    <a:pt x="2561861" y="0"/>
                  </a:lnTo>
                  <a:cubicBezTo>
                    <a:pt x="2584361" y="0"/>
                    <a:pt x="2602600" y="18240"/>
                    <a:pt x="2602600" y="40740"/>
                  </a:cubicBezTo>
                  <a:lnTo>
                    <a:pt x="2602600" y="880142"/>
                  </a:lnTo>
                  <a:cubicBezTo>
                    <a:pt x="2602600" y="890947"/>
                    <a:pt x="2598308" y="901309"/>
                    <a:pt x="2590668" y="908949"/>
                  </a:cubicBezTo>
                  <a:cubicBezTo>
                    <a:pt x="2583028" y="916590"/>
                    <a:pt x="2572666" y="920882"/>
                    <a:pt x="2561861" y="920882"/>
                  </a:cubicBezTo>
                  <a:lnTo>
                    <a:pt x="40740" y="920882"/>
                  </a:lnTo>
                  <a:cubicBezTo>
                    <a:pt x="18240" y="920882"/>
                    <a:pt x="0" y="902642"/>
                    <a:pt x="0" y="880142"/>
                  </a:cubicBezTo>
                  <a:lnTo>
                    <a:pt x="0" y="40740"/>
                  </a:lnTo>
                  <a:cubicBezTo>
                    <a:pt x="0" y="18240"/>
                    <a:pt x="18240" y="0"/>
                    <a:pt x="4074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02600" cy="958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8907" y="4065133"/>
            <a:ext cx="9881749" cy="5977066"/>
            <a:chOff x="0" y="0"/>
            <a:chExt cx="2602600" cy="15742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02600" cy="1574207"/>
            </a:xfrm>
            <a:custGeom>
              <a:avLst/>
              <a:gdLst/>
              <a:ahLst/>
              <a:cxnLst/>
              <a:rect l="l" t="t" r="r" b="b"/>
              <a:pathLst>
                <a:path w="2602600" h="1574207">
                  <a:moveTo>
                    <a:pt x="40740" y="0"/>
                  </a:moveTo>
                  <a:lnTo>
                    <a:pt x="2561861" y="0"/>
                  </a:lnTo>
                  <a:cubicBezTo>
                    <a:pt x="2584361" y="0"/>
                    <a:pt x="2602600" y="18240"/>
                    <a:pt x="2602600" y="40740"/>
                  </a:cubicBezTo>
                  <a:lnTo>
                    <a:pt x="2602600" y="1533467"/>
                  </a:lnTo>
                  <a:cubicBezTo>
                    <a:pt x="2602600" y="1544272"/>
                    <a:pt x="2598308" y="1554634"/>
                    <a:pt x="2590668" y="1562274"/>
                  </a:cubicBezTo>
                  <a:cubicBezTo>
                    <a:pt x="2583028" y="1569915"/>
                    <a:pt x="2572666" y="1574207"/>
                    <a:pt x="2561861" y="1574207"/>
                  </a:cubicBezTo>
                  <a:lnTo>
                    <a:pt x="40740" y="1574207"/>
                  </a:lnTo>
                  <a:cubicBezTo>
                    <a:pt x="18240" y="1574207"/>
                    <a:pt x="0" y="1555967"/>
                    <a:pt x="0" y="1533467"/>
                  </a:cubicBezTo>
                  <a:lnTo>
                    <a:pt x="0" y="40740"/>
                  </a:lnTo>
                  <a:cubicBezTo>
                    <a:pt x="0" y="18240"/>
                    <a:pt x="18240" y="0"/>
                    <a:pt x="4074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602600" cy="1612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37602" y="4253084"/>
            <a:ext cx="553065" cy="553065"/>
            <a:chOff x="0" y="0"/>
            <a:chExt cx="737419" cy="737419"/>
          </a:xfrm>
        </p:grpSpPr>
        <p:grpSp>
          <p:nvGrpSpPr>
            <p:cNvPr id="9" name="Group 9"/>
            <p:cNvGrpSpPr/>
            <p:nvPr/>
          </p:nvGrpSpPr>
          <p:grpSpPr>
            <a:xfrm>
              <a:off x="12595" y="12595"/>
              <a:ext cx="712229" cy="712229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 rot="-2700000">
              <a:off x="107993" y="107993"/>
              <a:ext cx="521434" cy="521434"/>
            </a:xfrm>
            <a:custGeom>
              <a:avLst/>
              <a:gdLst/>
              <a:ahLst/>
              <a:cxnLst/>
              <a:rect l="l" t="t" r="r" b="b"/>
              <a:pathLst>
                <a:path w="521434" h="521434">
                  <a:moveTo>
                    <a:pt x="0" y="0"/>
                  </a:moveTo>
                  <a:lnTo>
                    <a:pt x="521434" y="0"/>
                  </a:lnTo>
                  <a:lnTo>
                    <a:pt x="521434" y="521434"/>
                  </a:lnTo>
                  <a:lnTo>
                    <a:pt x="0" y="521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575481" y="2305866"/>
            <a:ext cx="6339600" cy="5675268"/>
          </a:xfrm>
          <a:custGeom>
            <a:avLst/>
            <a:gdLst/>
            <a:ahLst/>
            <a:cxnLst/>
            <a:rect l="l" t="t" r="r" b="b"/>
            <a:pathLst>
              <a:path w="6339600" h="5675268">
                <a:moveTo>
                  <a:pt x="0" y="0"/>
                </a:moveTo>
                <a:lnTo>
                  <a:pt x="6339600" y="0"/>
                </a:lnTo>
                <a:lnTo>
                  <a:pt x="6339600" y="5675268"/>
                </a:lnTo>
                <a:lnTo>
                  <a:pt x="0" y="5675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036" r="-40227" b="-454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468896" y="4976812"/>
            <a:ext cx="9321771" cy="4324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6250" lvl="1" indent="-263125" algn="just">
              <a:lnSpc>
                <a:spcPts val="3412"/>
              </a:lnSpc>
              <a:buFont typeface="Arial"/>
              <a:buChar char="•"/>
            </a:pPr>
            <a:r>
              <a:rPr lang="en-US" sz="243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Goal: Match IDs for all IPL games (2008–2024) collected and stored in Excel for analysis</a:t>
            </a:r>
          </a:p>
          <a:p>
            <a:pPr marL="526250" lvl="1" indent="-263125" algn="just">
              <a:lnSpc>
                <a:spcPts val="3412"/>
              </a:lnSpc>
              <a:buFont typeface="Arial"/>
              <a:buChar char="•"/>
            </a:pPr>
            <a:r>
              <a:rPr lang="en-US" sz="243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1: Playwright script scrapes one match at a time: commentary + scorecard.</a:t>
            </a:r>
          </a:p>
          <a:p>
            <a:pPr marL="526250" lvl="1" indent="-263125" algn="just">
              <a:lnSpc>
                <a:spcPts val="3412"/>
              </a:lnSpc>
              <a:buFont typeface="Arial"/>
              <a:buChar char="•"/>
            </a:pPr>
            <a:r>
              <a:rPr lang="en-US" sz="243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Each match’s data saved as a structured .</a:t>
            </a:r>
            <a:r>
              <a:rPr lang="en-US" sz="243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json</a:t>
            </a:r>
            <a:r>
              <a:rPr lang="en-US" sz="243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file.</a:t>
            </a:r>
          </a:p>
          <a:p>
            <a:pPr marL="526250" lvl="1" indent="-263125" algn="just">
              <a:lnSpc>
                <a:spcPts val="3412"/>
              </a:lnSpc>
              <a:buFont typeface="Arial"/>
              <a:buChar char="•"/>
            </a:pPr>
            <a:r>
              <a:rPr lang="en-US" sz="243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2: A transformation script converts all JSONs into a single master </a:t>
            </a:r>
            <a:r>
              <a:rPr lang="en-US" sz="243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DataFrame</a:t>
            </a:r>
            <a:r>
              <a:rPr lang="en-US" sz="243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526250" lvl="1" indent="-263125" algn="just">
              <a:lnSpc>
                <a:spcPts val="3412"/>
              </a:lnSpc>
              <a:buFont typeface="Arial"/>
              <a:buChar char="•"/>
            </a:pPr>
            <a:r>
              <a:rPr lang="en-US" sz="243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3: Final </a:t>
            </a:r>
            <a:r>
              <a:rPr lang="en-US" sz="243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DataFrame</a:t>
            </a:r>
            <a:r>
              <a:rPr lang="en-US" sz="243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analyzed using custom plots and visual insights.</a:t>
            </a:r>
          </a:p>
          <a:p>
            <a:pPr algn="just">
              <a:lnSpc>
                <a:spcPts val="3412"/>
              </a:lnSpc>
              <a:spcBef>
                <a:spcPct val="0"/>
              </a:spcBef>
            </a:pPr>
            <a:endParaRPr lang="en-US" sz="2437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35405" y="740401"/>
            <a:ext cx="7188752" cy="2303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82"/>
              </a:lnSpc>
            </a:pPr>
            <a:r>
              <a:rPr lang="en-US" sz="7762">
                <a:solidFill>
                  <a:srgbClr val="0132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WORKFLOW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575481" y="1601164"/>
            <a:ext cx="553065" cy="553065"/>
            <a:chOff x="0" y="0"/>
            <a:chExt cx="737419" cy="737419"/>
          </a:xfrm>
        </p:grpSpPr>
        <p:grpSp>
          <p:nvGrpSpPr>
            <p:cNvPr id="17" name="Group 17"/>
            <p:cNvGrpSpPr/>
            <p:nvPr/>
          </p:nvGrpSpPr>
          <p:grpSpPr>
            <a:xfrm>
              <a:off x="12595" y="12595"/>
              <a:ext cx="712229" cy="712229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 rot="-2700000">
              <a:off x="107993" y="107993"/>
              <a:ext cx="521434" cy="521434"/>
            </a:xfrm>
            <a:custGeom>
              <a:avLst/>
              <a:gdLst/>
              <a:ahLst/>
              <a:cxnLst/>
              <a:rect l="l" t="t" r="r" b="b"/>
              <a:pathLst>
                <a:path w="521434" h="521434">
                  <a:moveTo>
                    <a:pt x="0" y="0"/>
                  </a:moveTo>
                  <a:lnTo>
                    <a:pt x="521434" y="0"/>
                  </a:lnTo>
                  <a:lnTo>
                    <a:pt x="521434" y="521434"/>
                  </a:lnTo>
                  <a:lnTo>
                    <a:pt x="0" y="521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362017" y="8200328"/>
            <a:ext cx="553065" cy="553065"/>
            <a:chOff x="0" y="0"/>
            <a:chExt cx="737419" cy="737419"/>
          </a:xfrm>
        </p:grpSpPr>
        <p:grpSp>
          <p:nvGrpSpPr>
            <p:cNvPr id="22" name="Group 22"/>
            <p:cNvGrpSpPr/>
            <p:nvPr/>
          </p:nvGrpSpPr>
          <p:grpSpPr>
            <a:xfrm>
              <a:off x="12595" y="12595"/>
              <a:ext cx="712229" cy="712229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5" name="Freeform 25"/>
            <p:cNvSpPr/>
            <p:nvPr/>
          </p:nvSpPr>
          <p:spPr>
            <a:xfrm rot="-2700000">
              <a:off x="107993" y="107993"/>
              <a:ext cx="521434" cy="521434"/>
            </a:xfrm>
            <a:custGeom>
              <a:avLst/>
              <a:gdLst/>
              <a:ahLst/>
              <a:cxnLst/>
              <a:rect l="l" t="t" r="r" b="b"/>
              <a:pathLst>
                <a:path w="521434" h="521434">
                  <a:moveTo>
                    <a:pt x="0" y="0"/>
                  </a:moveTo>
                  <a:lnTo>
                    <a:pt x="521434" y="0"/>
                  </a:lnTo>
                  <a:lnTo>
                    <a:pt x="521434" y="521434"/>
                  </a:lnTo>
                  <a:lnTo>
                    <a:pt x="0" y="521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2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907" y="244801"/>
            <a:ext cx="17910186" cy="2838164"/>
            <a:chOff x="0" y="0"/>
            <a:chExt cx="4717086" cy="747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7086" cy="747500"/>
            </a:xfrm>
            <a:custGeom>
              <a:avLst/>
              <a:gdLst/>
              <a:ahLst/>
              <a:cxnLst/>
              <a:rect l="l" t="t" r="r" b="b"/>
              <a:pathLst>
                <a:path w="4717086" h="747500">
                  <a:moveTo>
                    <a:pt x="22478" y="0"/>
                  </a:moveTo>
                  <a:lnTo>
                    <a:pt x="4694608" y="0"/>
                  </a:lnTo>
                  <a:cubicBezTo>
                    <a:pt x="4700570" y="0"/>
                    <a:pt x="4706287" y="2368"/>
                    <a:pt x="4710502" y="6584"/>
                  </a:cubicBezTo>
                  <a:cubicBezTo>
                    <a:pt x="4714718" y="10799"/>
                    <a:pt x="4717086" y="16516"/>
                    <a:pt x="4717086" y="22478"/>
                  </a:cubicBezTo>
                  <a:lnTo>
                    <a:pt x="4717086" y="725022"/>
                  </a:lnTo>
                  <a:cubicBezTo>
                    <a:pt x="4717086" y="730984"/>
                    <a:pt x="4714718" y="736701"/>
                    <a:pt x="4710502" y="740916"/>
                  </a:cubicBezTo>
                  <a:cubicBezTo>
                    <a:pt x="4706287" y="745132"/>
                    <a:pt x="4700570" y="747500"/>
                    <a:pt x="4694608" y="747500"/>
                  </a:cubicBezTo>
                  <a:lnTo>
                    <a:pt x="22478" y="747500"/>
                  </a:lnTo>
                  <a:cubicBezTo>
                    <a:pt x="16516" y="747500"/>
                    <a:pt x="10799" y="745132"/>
                    <a:pt x="6584" y="740916"/>
                  </a:cubicBezTo>
                  <a:cubicBezTo>
                    <a:pt x="2368" y="736701"/>
                    <a:pt x="0" y="730984"/>
                    <a:pt x="0" y="725022"/>
                  </a:cubicBezTo>
                  <a:lnTo>
                    <a:pt x="0" y="22478"/>
                  </a:lnTo>
                  <a:cubicBezTo>
                    <a:pt x="0" y="16516"/>
                    <a:pt x="2368" y="10799"/>
                    <a:pt x="6584" y="6584"/>
                  </a:cubicBezTo>
                  <a:cubicBezTo>
                    <a:pt x="10799" y="2368"/>
                    <a:pt x="16516" y="0"/>
                    <a:pt x="2247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17086" cy="785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8907" y="3302410"/>
            <a:ext cx="9881749" cy="6739789"/>
            <a:chOff x="0" y="0"/>
            <a:chExt cx="2602600" cy="17750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02600" cy="1775089"/>
            </a:xfrm>
            <a:custGeom>
              <a:avLst/>
              <a:gdLst/>
              <a:ahLst/>
              <a:cxnLst/>
              <a:rect l="l" t="t" r="r" b="b"/>
              <a:pathLst>
                <a:path w="2602600" h="1775089">
                  <a:moveTo>
                    <a:pt x="40740" y="0"/>
                  </a:moveTo>
                  <a:lnTo>
                    <a:pt x="2561861" y="0"/>
                  </a:lnTo>
                  <a:cubicBezTo>
                    <a:pt x="2584361" y="0"/>
                    <a:pt x="2602600" y="18240"/>
                    <a:pt x="2602600" y="40740"/>
                  </a:cubicBezTo>
                  <a:lnTo>
                    <a:pt x="2602600" y="1734349"/>
                  </a:lnTo>
                  <a:cubicBezTo>
                    <a:pt x="2602600" y="1756849"/>
                    <a:pt x="2584361" y="1775089"/>
                    <a:pt x="2561861" y="1775089"/>
                  </a:cubicBezTo>
                  <a:lnTo>
                    <a:pt x="40740" y="1775089"/>
                  </a:lnTo>
                  <a:cubicBezTo>
                    <a:pt x="18240" y="1775089"/>
                    <a:pt x="0" y="1756849"/>
                    <a:pt x="0" y="1734349"/>
                  </a:cubicBezTo>
                  <a:lnTo>
                    <a:pt x="0" y="40740"/>
                  </a:lnTo>
                  <a:cubicBezTo>
                    <a:pt x="0" y="18240"/>
                    <a:pt x="18240" y="0"/>
                    <a:pt x="4074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602600" cy="1813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3460301"/>
            <a:ext cx="754201" cy="754201"/>
            <a:chOff x="0" y="0"/>
            <a:chExt cx="1005602" cy="1005602"/>
          </a:xfrm>
        </p:grpSpPr>
        <p:grpSp>
          <p:nvGrpSpPr>
            <p:cNvPr id="9" name="Group 9"/>
            <p:cNvGrpSpPr/>
            <p:nvPr/>
          </p:nvGrpSpPr>
          <p:grpSpPr>
            <a:xfrm>
              <a:off x="17176" y="17176"/>
              <a:ext cx="971250" cy="97125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 rot="-2700000">
              <a:off x="147267" y="147267"/>
              <a:ext cx="711068" cy="711068"/>
            </a:xfrm>
            <a:custGeom>
              <a:avLst/>
              <a:gdLst/>
              <a:ahLst/>
              <a:cxnLst/>
              <a:rect l="l" t="t" r="r" b="b"/>
              <a:pathLst>
                <a:path w="711068" h="711068">
                  <a:moveTo>
                    <a:pt x="0" y="0"/>
                  </a:moveTo>
                  <a:lnTo>
                    <a:pt x="711068" y="0"/>
                  </a:lnTo>
                  <a:lnTo>
                    <a:pt x="711068" y="711068"/>
                  </a:lnTo>
                  <a:lnTo>
                    <a:pt x="0" y="711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35" y="9258300"/>
            <a:ext cx="553065" cy="553065"/>
            <a:chOff x="0" y="0"/>
            <a:chExt cx="737419" cy="737419"/>
          </a:xfrm>
        </p:grpSpPr>
        <p:grpSp>
          <p:nvGrpSpPr>
            <p:cNvPr id="14" name="Group 14"/>
            <p:cNvGrpSpPr/>
            <p:nvPr/>
          </p:nvGrpSpPr>
          <p:grpSpPr>
            <a:xfrm>
              <a:off x="12595" y="12595"/>
              <a:ext cx="712229" cy="712229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Freeform 17"/>
            <p:cNvSpPr/>
            <p:nvPr/>
          </p:nvSpPr>
          <p:spPr>
            <a:xfrm rot="-2700000">
              <a:off x="107993" y="107993"/>
              <a:ext cx="521434" cy="521434"/>
            </a:xfrm>
            <a:custGeom>
              <a:avLst/>
              <a:gdLst/>
              <a:ahLst/>
              <a:cxnLst/>
              <a:rect l="l" t="t" r="r" b="b"/>
              <a:pathLst>
                <a:path w="521434" h="521434">
                  <a:moveTo>
                    <a:pt x="0" y="0"/>
                  </a:moveTo>
                  <a:lnTo>
                    <a:pt x="521434" y="0"/>
                  </a:lnTo>
                  <a:lnTo>
                    <a:pt x="521434" y="521434"/>
                  </a:lnTo>
                  <a:lnTo>
                    <a:pt x="0" y="521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75635" y="3460301"/>
            <a:ext cx="8459926" cy="825816"/>
            <a:chOff x="0" y="0"/>
            <a:chExt cx="2228129" cy="21749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28129" cy="217499"/>
            </a:xfrm>
            <a:custGeom>
              <a:avLst/>
              <a:gdLst/>
              <a:ahLst/>
              <a:cxnLst/>
              <a:rect l="l" t="t" r="r" b="b"/>
              <a:pathLst>
                <a:path w="2228129" h="217499">
                  <a:moveTo>
                    <a:pt x="91513" y="0"/>
                  </a:moveTo>
                  <a:lnTo>
                    <a:pt x="2136616" y="0"/>
                  </a:lnTo>
                  <a:cubicBezTo>
                    <a:pt x="2160887" y="0"/>
                    <a:pt x="2184163" y="9642"/>
                    <a:pt x="2201325" y="26803"/>
                  </a:cubicBezTo>
                  <a:cubicBezTo>
                    <a:pt x="2218487" y="43965"/>
                    <a:pt x="2228129" y="67242"/>
                    <a:pt x="2228129" y="91513"/>
                  </a:cubicBezTo>
                  <a:lnTo>
                    <a:pt x="2228129" y="125986"/>
                  </a:lnTo>
                  <a:cubicBezTo>
                    <a:pt x="2228129" y="176527"/>
                    <a:pt x="2187157" y="217499"/>
                    <a:pt x="2136616" y="217499"/>
                  </a:cubicBezTo>
                  <a:lnTo>
                    <a:pt x="91513" y="217499"/>
                  </a:lnTo>
                  <a:cubicBezTo>
                    <a:pt x="67242" y="217499"/>
                    <a:pt x="43965" y="207857"/>
                    <a:pt x="26803" y="190695"/>
                  </a:cubicBezTo>
                  <a:cubicBezTo>
                    <a:pt x="9642" y="173533"/>
                    <a:pt x="0" y="150257"/>
                    <a:pt x="0" y="125986"/>
                  </a:cubicBezTo>
                  <a:lnTo>
                    <a:pt x="0" y="91513"/>
                  </a:lnTo>
                  <a:cubicBezTo>
                    <a:pt x="0" y="67242"/>
                    <a:pt x="9642" y="43965"/>
                    <a:pt x="26803" y="26803"/>
                  </a:cubicBezTo>
                  <a:cubicBezTo>
                    <a:pt x="43965" y="9642"/>
                    <a:pt x="67242" y="0"/>
                    <a:pt x="915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228129" cy="2651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espn_scraper.py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10280206" y="3837402"/>
            <a:ext cx="7818887" cy="5010473"/>
          </a:xfrm>
          <a:custGeom>
            <a:avLst/>
            <a:gdLst/>
            <a:ahLst/>
            <a:cxnLst/>
            <a:rect l="l" t="t" r="r" b="b"/>
            <a:pathLst>
              <a:path w="7818887" h="5010473">
                <a:moveTo>
                  <a:pt x="0" y="0"/>
                </a:moveTo>
                <a:lnTo>
                  <a:pt x="7818887" y="0"/>
                </a:lnTo>
                <a:lnTo>
                  <a:pt x="7818887" y="5010474"/>
                </a:lnTo>
                <a:lnTo>
                  <a:pt x="0" y="5010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80" t="-7668" r="-13891" b="-475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1824301" y="1215137"/>
            <a:ext cx="14846268" cy="1309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</a:pPr>
            <a:r>
              <a:rPr lang="en-US" sz="8800">
                <a:solidFill>
                  <a:srgbClr val="0132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SCRAPER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0" y="4732092"/>
            <a:ext cx="10700033" cy="3456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8358" lvl="1" indent="-304179" algn="l">
              <a:lnSpc>
                <a:spcPts val="3944"/>
              </a:lnSpc>
              <a:buFont typeface="Arial"/>
              <a:buChar char="•"/>
            </a:pPr>
            <a:r>
              <a:rPr lang="en-US" sz="28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Visits each match page on ESPNcricinfo.</a:t>
            </a:r>
          </a:p>
          <a:p>
            <a:pPr marL="608358" lvl="1" indent="-304179" algn="l">
              <a:lnSpc>
                <a:spcPts val="3944"/>
              </a:lnSpc>
              <a:buFont typeface="Arial"/>
              <a:buChar char="•"/>
            </a:pPr>
            <a:r>
              <a:rPr lang="en-US" sz="28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Navigates between tabs: Scorecard and Commentary</a:t>
            </a:r>
          </a:p>
          <a:p>
            <a:pPr marL="635006" lvl="1" indent="-317503" algn="l">
              <a:lnSpc>
                <a:spcPts val="4117"/>
              </a:lnSpc>
              <a:buFont typeface="Arial"/>
              <a:buChar char="•"/>
            </a:pPr>
            <a:r>
              <a:rPr lang="en-US" sz="294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Handles:</a:t>
            </a:r>
          </a:p>
          <a:p>
            <a:pPr marL="1216717" lvl="2" indent="-405572" algn="l">
              <a:lnSpc>
                <a:spcPts val="3944"/>
              </a:lnSpc>
              <a:buFont typeface="Arial"/>
              <a:buChar char="⚬"/>
            </a:pPr>
            <a:r>
              <a:rPr lang="en-US" sz="28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Dropdown menus for innings</a:t>
            </a:r>
          </a:p>
          <a:p>
            <a:pPr marL="1216717" lvl="2" indent="-405572" algn="l">
              <a:lnSpc>
                <a:spcPts val="3944"/>
              </a:lnSpc>
              <a:buFont typeface="Arial"/>
              <a:buChar char="⚬"/>
            </a:pPr>
            <a:r>
              <a:rPr lang="en-US" sz="28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Infinite scrolling to load full commentary</a:t>
            </a:r>
          </a:p>
          <a:p>
            <a:pPr marL="1216717" lvl="2" indent="-405572" algn="l">
              <a:lnSpc>
                <a:spcPts val="3944"/>
              </a:lnSpc>
              <a:buFont typeface="Arial"/>
              <a:buChar char="⚬"/>
            </a:pPr>
            <a:r>
              <a:rPr lang="en-US" sz="28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Network sniffing to capture hidden JSON APIs</a:t>
            </a:r>
          </a:p>
          <a:p>
            <a:pPr marL="608358" lvl="1" indent="-304179" algn="l">
              <a:lnSpc>
                <a:spcPts val="3944"/>
              </a:lnSpc>
              <a:buFont typeface="Arial"/>
              <a:buChar char="•"/>
            </a:pPr>
            <a:r>
              <a:rPr lang="en-US" sz="28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Saves all extracted info as a .json file per match.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2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30830" y="244801"/>
            <a:ext cx="9881749" cy="4517948"/>
            <a:chOff x="0" y="0"/>
            <a:chExt cx="2602600" cy="11899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02600" cy="1189912"/>
            </a:xfrm>
            <a:custGeom>
              <a:avLst/>
              <a:gdLst/>
              <a:ahLst/>
              <a:cxnLst/>
              <a:rect l="l" t="t" r="r" b="b"/>
              <a:pathLst>
                <a:path w="2602600" h="1189912">
                  <a:moveTo>
                    <a:pt x="40740" y="0"/>
                  </a:moveTo>
                  <a:lnTo>
                    <a:pt x="2561861" y="0"/>
                  </a:lnTo>
                  <a:cubicBezTo>
                    <a:pt x="2584361" y="0"/>
                    <a:pt x="2602600" y="18240"/>
                    <a:pt x="2602600" y="40740"/>
                  </a:cubicBezTo>
                  <a:lnTo>
                    <a:pt x="2602600" y="1149172"/>
                  </a:lnTo>
                  <a:cubicBezTo>
                    <a:pt x="2602600" y="1171672"/>
                    <a:pt x="2584361" y="1189912"/>
                    <a:pt x="2561861" y="1189912"/>
                  </a:cubicBezTo>
                  <a:lnTo>
                    <a:pt x="40740" y="1189912"/>
                  </a:lnTo>
                  <a:cubicBezTo>
                    <a:pt x="18240" y="1189912"/>
                    <a:pt x="0" y="1171672"/>
                    <a:pt x="0" y="1149172"/>
                  </a:cubicBezTo>
                  <a:lnTo>
                    <a:pt x="0" y="40740"/>
                  </a:lnTo>
                  <a:cubicBezTo>
                    <a:pt x="0" y="18240"/>
                    <a:pt x="18240" y="0"/>
                    <a:pt x="4074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02600" cy="1228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58483" y="4915003"/>
            <a:ext cx="9881749" cy="5127196"/>
            <a:chOff x="0" y="0"/>
            <a:chExt cx="2602600" cy="13503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02600" cy="1350373"/>
            </a:xfrm>
            <a:custGeom>
              <a:avLst/>
              <a:gdLst/>
              <a:ahLst/>
              <a:cxnLst/>
              <a:rect l="l" t="t" r="r" b="b"/>
              <a:pathLst>
                <a:path w="2602600" h="1350373">
                  <a:moveTo>
                    <a:pt x="40740" y="0"/>
                  </a:moveTo>
                  <a:lnTo>
                    <a:pt x="2561861" y="0"/>
                  </a:lnTo>
                  <a:cubicBezTo>
                    <a:pt x="2584361" y="0"/>
                    <a:pt x="2602600" y="18240"/>
                    <a:pt x="2602600" y="40740"/>
                  </a:cubicBezTo>
                  <a:lnTo>
                    <a:pt x="2602600" y="1309633"/>
                  </a:lnTo>
                  <a:cubicBezTo>
                    <a:pt x="2602600" y="1320438"/>
                    <a:pt x="2598308" y="1330800"/>
                    <a:pt x="2590668" y="1338440"/>
                  </a:cubicBezTo>
                  <a:cubicBezTo>
                    <a:pt x="2583028" y="1346081"/>
                    <a:pt x="2572666" y="1350373"/>
                    <a:pt x="2561861" y="1350373"/>
                  </a:cubicBezTo>
                  <a:lnTo>
                    <a:pt x="40740" y="1350373"/>
                  </a:lnTo>
                  <a:cubicBezTo>
                    <a:pt x="18240" y="1350373"/>
                    <a:pt x="0" y="1332133"/>
                    <a:pt x="0" y="1309633"/>
                  </a:cubicBezTo>
                  <a:lnTo>
                    <a:pt x="0" y="40740"/>
                  </a:lnTo>
                  <a:cubicBezTo>
                    <a:pt x="0" y="18240"/>
                    <a:pt x="18240" y="0"/>
                    <a:pt x="4074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602600" cy="1388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178261" y="5069304"/>
            <a:ext cx="728437" cy="72843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5977" tIns="35977" rIns="35977" bIns="3597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2700000">
            <a:off x="17262947" y="5179754"/>
            <a:ext cx="533301" cy="533301"/>
          </a:xfrm>
          <a:custGeom>
            <a:avLst/>
            <a:gdLst/>
            <a:ahLst/>
            <a:cxnLst/>
            <a:rect l="l" t="t" r="r" b="b"/>
            <a:pathLst>
              <a:path w="533301" h="533301">
                <a:moveTo>
                  <a:pt x="0" y="0"/>
                </a:moveTo>
                <a:lnTo>
                  <a:pt x="533301" y="0"/>
                </a:lnTo>
                <a:lnTo>
                  <a:pt x="533301" y="533301"/>
                </a:lnTo>
                <a:lnTo>
                  <a:pt x="0" y="5333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8468553" y="5033496"/>
            <a:ext cx="8576706" cy="825816"/>
            <a:chOff x="0" y="0"/>
            <a:chExt cx="2258886" cy="21749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58886" cy="217499"/>
            </a:xfrm>
            <a:custGeom>
              <a:avLst/>
              <a:gdLst/>
              <a:ahLst/>
              <a:cxnLst/>
              <a:rect l="l" t="t" r="r" b="b"/>
              <a:pathLst>
                <a:path w="2258886" h="217499">
                  <a:moveTo>
                    <a:pt x="90267" y="0"/>
                  </a:moveTo>
                  <a:lnTo>
                    <a:pt x="2168619" y="0"/>
                  </a:lnTo>
                  <a:cubicBezTo>
                    <a:pt x="2192559" y="0"/>
                    <a:pt x="2215519" y="9510"/>
                    <a:pt x="2232447" y="26439"/>
                  </a:cubicBezTo>
                  <a:cubicBezTo>
                    <a:pt x="2249375" y="43367"/>
                    <a:pt x="2258886" y="66327"/>
                    <a:pt x="2258886" y="90267"/>
                  </a:cubicBezTo>
                  <a:lnTo>
                    <a:pt x="2258886" y="127232"/>
                  </a:lnTo>
                  <a:cubicBezTo>
                    <a:pt x="2258886" y="151172"/>
                    <a:pt x="2249375" y="174132"/>
                    <a:pt x="2232447" y="191060"/>
                  </a:cubicBezTo>
                  <a:cubicBezTo>
                    <a:pt x="2215519" y="207989"/>
                    <a:pt x="2192559" y="217499"/>
                    <a:pt x="2168619" y="217499"/>
                  </a:cubicBezTo>
                  <a:lnTo>
                    <a:pt x="90267" y="217499"/>
                  </a:lnTo>
                  <a:cubicBezTo>
                    <a:pt x="66327" y="217499"/>
                    <a:pt x="43367" y="207989"/>
                    <a:pt x="26439" y="191060"/>
                  </a:cubicBezTo>
                  <a:cubicBezTo>
                    <a:pt x="9510" y="174132"/>
                    <a:pt x="0" y="151172"/>
                    <a:pt x="0" y="127232"/>
                  </a:cubicBezTo>
                  <a:lnTo>
                    <a:pt x="0" y="90267"/>
                  </a:lnTo>
                  <a:cubicBezTo>
                    <a:pt x="0" y="66327"/>
                    <a:pt x="9510" y="43367"/>
                    <a:pt x="26439" y="26439"/>
                  </a:cubicBezTo>
                  <a:cubicBezTo>
                    <a:pt x="43367" y="9510"/>
                    <a:pt x="66327" y="0"/>
                    <a:pt x="902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2258886" cy="284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</a:pPr>
              <a:r>
                <a:rPr lang="en-US" sz="28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espn_scraper_loop.py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213343" y="1583830"/>
            <a:ext cx="7912712" cy="7674470"/>
          </a:xfrm>
          <a:custGeom>
            <a:avLst/>
            <a:gdLst/>
            <a:ahLst/>
            <a:cxnLst/>
            <a:rect l="l" t="t" r="r" b="b"/>
            <a:pathLst>
              <a:path w="7912712" h="7674470">
                <a:moveTo>
                  <a:pt x="0" y="0"/>
                </a:moveTo>
                <a:lnTo>
                  <a:pt x="7912712" y="0"/>
                </a:lnTo>
                <a:lnTo>
                  <a:pt x="7912712" y="7674470"/>
                </a:lnTo>
                <a:lnTo>
                  <a:pt x="0" y="76744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52" b="-155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8639253" y="6247921"/>
            <a:ext cx="9120210" cy="305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Automates scraping for all matches using match IDs from Excel</a:t>
            </a:r>
          </a:p>
          <a:p>
            <a:pPr marL="539748" lvl="1" indent="-269874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Calls the main scraper script for each match sequentially</a:t>
            </a:r>
          </a:p>
          <a:p>
            <a:pPr marL="539748" lvl="1" indent="-269874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Took ~24 hours to scrape 17 full IPL seasons</a:t>
            </a:r>
          </a:p>
          <a:p>
            <a:pPr marL="539748" lvl="1" indent="-269874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Generated over 1000 JSON files containing ball-by-ball data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788047" y="1367441"/>
            <a:ext cx="8767315" cy="261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</a:pPr>
            <a:r>
              <a:rPr lang="en-US" sz="8800">
                <a:solidFill>
                  <a:srgbClr val="0132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SCRAPER LOOP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2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907" y="4915003"/>
            <a:ext cx="17910186" cy="5127196"/>
            <a:chOff x="0" y="0"/>
            <a:chExt cx="4717086" cy="13503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7086" cy="1350373"/>
            </a:xfrm>
            <a:custGeom>
              <a:avLst/>
              <a:gdLst/>
              <a:ahLst/>
              <a:cxnLst/>
              <a:rect l="l" t="t" r="r" b="b"/>
              <a:pathLst>
                <a:path w="4717086" h="1350373">
                  <a:moveTo>
                    <a:pt x="22478" y="0"/>
                  </a:moveTo>
                  <a:lnTo>
                    <a:pt x="4694608" y="0"/>
                  </a:lnTo>
                  <a:cubicBezTo>
                    <a:pt x="4700570" y="0"/>
                    <a:pt x="4706287" y="2368"/>
                    <a:pt x="4710502" y="6584"/>
                  </a:cubicBezTo>
                  <a:cubicBezTo>
                    <a:pt x="4714718" y="10799"/>
                    <a:pt x="4717086" y="16516"/>
                    <a:pt x="4717086" y="22478"/>
                  </a:cubicBezTo>
                  <a:lnTo>
                    <a:pt x="4717086" y="1327895"/>
                  </a:lnTo>
                  <a:cubicBezTo>
                    <a:pt x="4717086" y="1333856"/>
                    <a:pt x="4714718" y="1339574"/>
                    <a:pt x="4710502" y="1343789"/>
                  </a:cubicBezTo>
                  <a:cubicBezTo>
                    <a:pt x="4706287" y="1348005"/>
                    <a:pt x="4700570" y="1350373"/>
                    <a:pt x="4694608" y="1350373"/>
                  </a:cubicBezTo>
                  <a:lnTo>
                    <a:pt x="22478" y="1350373"/>
                  </a:lnTo>
                  <a:cubicBezTo>
                    <a:pt x="16516" y="1350373"/>
                    <a:pt x="10799" y="1348005"/>
                    <a:pt x="6584" y="1343789"/>
                  </a:cubicBezTo>
                  <a:cubicBezTo>
                    <a:pt x="2368" y="1339574"/>
                    <a:pt x="0" y="1333856"/>
                    <a:pt x="0" y="1327895"/>
                  </a:cubicBezTo>
                  <a:lnTo>
                    <a:pt x="0" y="22478"/>
                  </a:lnTo>
                  <a:cubicBezTo>
                    <a:pt x="0" y="16516"/>
                    <a:pt x="2368" y="10799"/>
                    <a:pt x="6584" y="6584"/>
                  </a:cubicBezTo>
                  <a:cubicBezTo>
                    <a:pt x="10799" y="2368"/>
                    <a:pt x="16516" y="0"/>
                    <a:pt x="2247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17086" cy="1388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13136" y="5307397"/>
            <a:ext cx="3976372" cy="4342409"/>
            <a:chOff x="0" y="0"/>
            <a:chExt cx="1966448" cy="21474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66448" cy="2147465"/>
            </a:xfrm>
            <a:custGeom>
              <a:avLst/>
              <a:gdLst/>
              <a:ahLst/>
              <a:cxnLst/>
              <a:rect l="l" t="t" r="r" b="b"/>
              <a:pathLst>
                <a:path w="1966448" h="2147465">
                  <a:moveTo>
                    <a:pt x="97349" y="0"/>
                  </a:moveTo>
                  <a:lnTo>
                    <a:pt x="1869099" y="0"/>
                  </a:lnTo>
                  <a:cubicBezTo>
                    <a:pt x="1894918" y="0"/>
                    <a:pt x="1919679" y="10256"/>
                    <a:pt x="1937936" y="28513"/>
                  </a:cubicBezTo>
                  <a:cubicBezTo>
                    <a:pt x="1956192" y="46769"/>
                    <a:pt x="1966448" y="71530"/>
                    <a:pt x="1966448" y="97349"/>
                  </a:cubicBezTo>
                  <a:lnTo>
                    <a:pt x="1966448" y="2050116"/>
                  </a:lnTo>
                  <a:cubicBezTo>
                    <a:pt x="1966448" y="2075935"/>
                    <a:pt x="1956192" y="2100696"/>
                    <a:pt x="1937936" y="2118953"/>
                  </a:cubicBezTo>
                  <a:cubicBezTo>
                    <a:pt x="1919679" y="2137209"/>
                    <a:pt x="1894918" y="2147465"/>
                    <a:pt x="1869099" y="2147465"/>
                  </a:cubicBezTo>
                  <a:lnTo>
                    <a:pt x="97349" y="2147465"/>
                  </a:lnTo>
                  <a:cubicBezTo>
                    <a:pt x="43585" y="2147465"/>
                    <a:pt x="0" y="2103881"/>
                    <a:pt x="0" y="2050116"/>
                  </a:cubicBezTo>
                  <a:lnTo>
                    <a:pt x="0" y="97349"/>
                  </a:lnTo>
                  <a:cubicBezTo>
                    <a:pt x="0" y="71530"/>
                    <a:pt x="10256" y="46769"/>
                    <a:pt x="28513" y="28513"/>
                  </a:cubicBezTo>
                  <a:cubicBezTo>
                    <a:pt x="46769" y="10256"/>
                    <a:pt x="71530" y="0"/>
                    <a:pt x="97349" y="0"/>
                  </a:cubicBezTo>
                  <a:close/>
                </a:path>
              </a:pathLst>
            </a:custGeom>
            <a:blipFill>
              <a:blip r:embed="rId2"/>
              <a:stretch>
                <a:fillRect l="-4602" r="-4602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8907" y="244801"/>
            <a:ext cx="9881749" cy="4517948"/>
            <a:chOff x="0" y="0"/>
            <a:chExt cx="2602600" cy="118991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02600" cy="1189912"/>
            </a:xfrm>
            <a:custGeom>
              <a:avLst/>
              <a:gdLst/>
              <a:ahLst/>
              <a:cxnLst/>
              <a:rect l="l" t="t" r="r" b="b"/>
              <a:pathLst>
                <a:path w="2602600" h="1189912">
                  <a:moveTo>
                    <a:pt x="40740" y="0"/>
                  </a:moveTo>
                  <a:lnTo>
                    <a:pt x="2561861" y="0"/>
                  </a:lnTo>
                  <a:cubicBezTo>
                    <a:pt x="2584361" y="0"/>
                    <a:pt x="2602600" y="18240"/>
                    <a:pt x="2602600" y="40740"/>
                  </a:cubicBezTo>
                  <a:lnTo>
                    <a:pt x="2602600" y="1149172"/>
                  </a:lnTo>
                  <a:cubicBezTo>
                    <a:pt x="2602600" y="1171672"/>
                    <a:pt x="2584361" y="1189912"/>
                    <a:pt x="2561861" y="1189912"/>
                  </a:cubicBezTo>
                  <a:lnTo>
                    <a:pt x="40740" y="1189912"/>
                  </a:lnTo>
                  <a:cubicBezTo>
                    <a:pt x="18240" y="1189912"/>
                    <a:pt x="0" y="1171672"/>
                    <a:pt x="0" y="1149172"/>
                  </a:cubicBezTo>
                  <a:lnTo>
                    <a:pt x="0" y="40740"/>
                  </a:lnTo>
                  <a:cubicBezTo>
                    <a:pt x="0" y="18240"/>
                    <a:pt x="18240" y="0"/>
                    <a:pt x="4074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602600" cy="1228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308667" y="306326"/>
            <a:ext cx="7790426" cy="4456423"/>
            <a:chOff x="0" y="0"/>
            <a:chExt cx="2051800" cy="117370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51800" cy="1173708"/>
            </a:xfrm>
            <a:custGeom>
              <a:avLst/>
              <a:gdLst/>
              <a:ahLst/>
              <a:cxnLst/>
              <a:rect l="l" t="t" r="r" b="b"/>
              <a:pathLst>
                <a:path w="2051800" h="1173708">
                  <a:moveTo>
                    <a:pt x="51676" y="0"/>
                  </a:moveTo>
                  <a:lnTo>
                    <a:pt x="2000123" y="0"/>
                  </a:lnTo>
                  <a:cubicBezTo>
                    <a:pt x="2013829" y="0"/>
                    <a:pt x="2026973" y="5444"/>
                    <a:pt x="2036664" y="15136"/>
                  </a:cubicBezTo>
                  <a:cubicBezTo>
                    <a:pt x="2046355" y="24827"/>
                    <a:pt x="2051800" y="37971"/>
                    <a:pt x="2051800" y="51676"/>
                  </a:cubicBezTo>
                  <a:lnTo>
                    <a:pt x="2051800" y="1122032"/>
                  </a:lnTo>
                  <a:cubicBezTo>
                    <a:pt x="2051800" y="1150572"/>
                    <a:pt x="2028663" y="1173708"/>
                    <a:pt x="2000123" y="1173708"/>
                  </a:cubicBezTo>
                  <a:lnTo>
                    <a:pt x="51676" y="1173708"/>
                  </a:lnTo>
                  <a:cubicBezTo>
                    <a:pt x="23136" y="1173708"/>
                    <a:pt x="0" y="1150572"/>
                    <a:pt x="0" y="1122032"/>
                  </a:cubicBezTo>
                  <a:lnTo>
                    <a:pt x="0" y="51676"/>
                  </a:lnTo>
                  <a:cubicBezTo>
                    <a:pt x="0" y="23136"/>
                    <a:pt x="23136" y="0"/>
                    <a:pt x="5167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051800" cy="1211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826779" y="3412458"/>
            <a:ext cx="754201" cy="754201"/>
            <a:chOff x="0" y="0"/>
            <a:chExt cx="1005602" cy="1005602"/>
          </a:xfrm>
        </p:grpSpPr>
        <p:grpSp>
          <p:nvGrpSpPr>
            <p:cNvPr id="14" name="Group 14"/>
            <p:cNvGrpSpPr/>
            <p:nvPr/>
          </p:nvGrpSpPr>
          <p:grpSpPr>
            <a:xfrm>
              <a:off x="17176" y="17176"/>
              <a:ext cx="971250" cy="971250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Freeform 17"/>
            <p:cNvSpPr/>
            <p:nvPr/>
          </p:nvSpPr>
          <p:spPr>
            <a:xfrm rot="-2700000">
              <a:off x="147267" y="147267"/>
              <a:ext cx="711068" cy="711068"/>
            </a:xfrm>
            <a:custGeom>
              <a:avLst/>
              <a:gdLst/>
              <a:ahLst/>
              <a:cxnLst/>
              <a:rect l="l" t="t" r="r" b="b"/>
              <a:pathLst>
                <a:path w="711068" h="711068">
                  <a:moveTo>
                    <a:pt x="0" y="0"/>
                  </a:moveTo>
                  <a:lnTo>
                    <a:pt x="711068" y="0"/>
                  </a:lnTo>
                  <a:lnTo>
                    <a:pt x="711068" y="711068"/>
                  </a:lnTo>
                  <a:lnTo>
                    <a:pt x="0" y="711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826779" y="902416"/>
            <a:ext cx="754201" cy="754201"/>
            <a:chOff x="0" y="0"/>
            <a:chExt cx="1005602" cy="1005602"/>
          </a:xfrm>
        </p:grpSpPr>
        <p:grpSp>
          <p:nvGrpSpPr>
            <p:cNvPr id="19" name="Group 19"/>
            <p:cNvGrpSpPr/>
            <p:nvPr/>
          </p:nvGrpSpPr>
          <p:grpSpPr>
            <a:xfrm>
              <a:off x="17176" y="17176"/>
              <a:ext cx="971250" cy="971250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 rot="-2700000">
              <a:off x="147267" y="147267"/>
              <a:ext cx="711068" cy="711068"/>
            </a:xfrm>
            <a:custGeom>
              <a:avLst/>
              <a:gdLst/>
              <a:ahLst/>
              <a:cxnLst/>
              <a:rect l="l" t="t" r="r" b="b"/>
              <a:pathLst>
                <a:path w="711068" h="711068">
                  <a:moveTo>
                    <a:pt x="0" y="0"/>
                  </a:moveTo>
                  <a:lnTo>
                    <a:pt x="711068" y="0"/>
                  </a:lnTo>
                  <a:lnTo>
                    <a:pt x="711068" y="711068"/>
                  </a:lnTo>
                  <a:lnTo>
                    <a:pt x="0" y="711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754857" y="2121629"/>
            <a:ext cx="4898045" cy="825816"/>
            <a:chOff x="0" y="0"/>
            <a:chExt cx="1290020" cy="21749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90020" cy="217499"/>
            </a:xfrm>
            <a:custGeom>
              <a:avLst/>
              <a:gdLst/>
              <a:ahLst/>
              <a:cxnLst/>
              <a:rect l="l" t="t" r="r" b="b"/>
              <a:pathLst>
                <a:path w="1290020" h="217499">
                  <a:moveTo>
                    <a:pt x="108749" y="0"/>
                  </a:moveTo>
                  <a:lnTo>
                    <a:pt x="1181271" y="0"/>
                  </a:lnTo>
                  <a:cubicBezTo>
                    <a:pt x="1241331" y="0"/>
                    <a:pt x="1290020" y="48689"/>
                    <a:pt x="1290020" y="108749"/>
                  </a:cubicBezTo>
                  <a:lnTo>
                    <a:pt x="1290020" y="108749"/>
                  </a:lnTo>
                  <a:cubicBezTo>
                    <a:pt x="1290020" y="168810"/>
                    <a:pt x="1241331" y="217499"/>
                    <a:pt x="1181271" y="217499"/>
                  </a:cubicBezTo>
                  <a:lnTo>
                    <a:pt x="108749" y="217499"/>
                  </a:lnTo>
                  <a:cubicBezTo>
                    <a:pt x="48689" y="217499"/>
                    <a:pt x="0" y="168810"/>
                    <a:pt x="0" y="108749"/>
                  </a:cubicBezTo>
                  <a:lnTo>
                    <a:pt x="0" y="108749"/>
                  </a:lnTo>
                  <a:cubicBezTo>
                    <a:pt x="0" y="48689"/>
                    <a:pt x="48689" y="0"/>
                    <a:pt x="1087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1290020" cy="284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</a:pPr>
              <a:r>
                <a:rPr lang="en-US" sz="28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json_to_df.py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46124" y="1367441"/>
            <a:ext cx="8767315" cy="261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</a:pPr>
            <a:r>
              <a:rPr lang="en-US" sz="8800">
                <a:solidFill>
                  <a:srgbClr val="0132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JSON TO DATAFRAME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52967" y="5363388"/>
            <a:ext cx="10735033" cy="4173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425" lvl="1" indent="-318213" algn="l">
              <a:lnSpc>
                <a:spcPts val="4126"/>
              </a:lnSpc>
              <a:buFont typeface="Arial"/>
              <a:buChar char="•"/>
            </a:pPr>
            <a:r>
              <a:rPr lang="en-US" sz="2947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Each JSON file contains nested structures: innings, players, match info, ball-by-ball info</a:t>
            </a:r>
          </a:p>
          <a:p>
            <a:pPr marL="636425" lvl="1" indent="-318213" algn="l">
              <a:lnSpc>
                <a:spcPts val="4126"/>
              </a:lnSpc>
              <a:buFont typeface="Arial"/>
              <a:buChar char="•"/>
            </a:pPr>
            <a:r>
              <a:rPr lang="en-US" sz="2947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Script extracts over 60 detailed features per ball</a:t>
            </a:r>
          </a:p>
          <a:p>
            <a:pPr marL="636425" lvl="1" indent="-318213" algn="l">
              <a:lnSpc>
                <a:spcPts val="4126"/>
              </a:lnSpc>
              <a:buFont typeface="Arial"/>
              <a:buChar char="•"/>
            </a:pPr>
            <a:r>
              <a:rPr lang="en-US" sz="2947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Includes metadata: player names, shot types, pitch zones, dismissal type, batting position, win probability, and more</a:t>
            </a:r>
          </a:p>
          <a:p>
            <a:pPr marL="636425" lvl="1" indent="-318213" algn="l">
              <a:lnSpc>
                <a:spcPts val="4126"/>
              </a:lnSpc>
              <a:buFont typeface="Arial"/>
              <a:buChar char="•"/>
            </a:pPr>
            <a:r>
              <a:rPr lang="en-US" sz="2947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All files combined into a single Pandas </a:t>
            </a:r>
            <a:r>
              <a:rPr lang="en-US" sz="2947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DataFrame</a:t>
            </a:r>
            <a:endParaRPr lang="en-US" sz="2947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126"/>
              </a:lnSpc>
              <a:spcBef>
                <a:spcPct val="0"/>
              </a:spcBef>
            </a:pPr>
            <a:endParaRPr lang="en-US" sz="2947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2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76106" y="257912"/>
            <a:ext cx="4581094" cy="4517948"/>
            <a:chOff x="0" y="0"/>
            <a:chExt cx="922767" cy="9100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2767" cy="910048"/>
            </a:xfrm>
            <a:custGeom>
              <a:avLst/>
              <a:gdLst/>
              <a:ahLst/>
              <a:cxnLst/>
              <a:rect l="l" t="t" r="r" b="b"/>
              <a:pathLst>
                <a:path w="922767" h="910048">
                  <a:moveTo>
                    <a:pt x="84499" y="0"/>
                  </a:moveTo>
                  <a:lnTo>
                    <a:pt x="838269" y="0"/>
                  </a:lnTo>
                  <a:cubicBezTo>
                    <a:pt x="884936" y="0"/>
                    <a:pt x="922767" y="37831"/>
                    <a:pt x="922767" y="84499"/>
                  </a:cubicBezTo>
                  <a:lnTo>
                    <a:pt x="922767" y="825549"/>
                  </a:lnTo>
                  <a:cubicBezTo>
                    <a:pt x="922767" y="847960"/>
                    <a:pt x="913865" y="869452"/>
                    <a:pt x="898018" y="885299"/>
                  </a:cubicBezTo>
                  <a:cubicBezTo>
                    <a:pt x="882172" y="901145"/>
                    <a:pt x="860679" y="910048"/>
                    <a:pt x="838269" y="910048"/>
                  </a:cubicBezTo>
                  <a:lnTo>
                    <a:pt x="84499" y="910048"/>
                  </a:lnTo>
                  <a:cubicBezTo>
                    <a:pt x="62088" y="910048"/>
                    <a:pt x="40596" y="901145"/>
                    <a:pt x="24749" y="885299"/>
                  </a:cubicBezTo>
                  <a:cubicBezTo>
                    <a:pt x="8903" y="869452"/>
                    <a:pt x="0" y="847960"/>
                    <a:pt x="0" y="825549"/>
                  </a:cubicBezTo>
                  <a:lnTo>
                    <a:pt x="0" y="84499"/>
                  </a:lnTo>
                  <a:cubicBezTo>
                    <a:pt x="0" y="62088"/>
                    <a:pt x="8903" y="40596"/>
                    <a:pt x="24749" y="24749"/>
                  </a:cubicBezTo>
                  <a:cubicBezTo>
                    <a:pt x="40596" y="8903"/>
                    <a:pt x="62088" y="0"/>
                    <a:pt x="84499" y="0"/>
                  </a:cubicBezTo>
                  <a:close/>
                </a:path>
              </a:pathLst>
            </a:custGeom>
            <a:blipFill>
              <a:blip r:embed="rId2"/>
              <a:stretch>
                <a:fillRect t="-698" b="-698"/>
              </a:stretch>
            </a:blipFill>
            <a:ln w="19050" cap="rnd">
              <a:solidFill>
                <a:srgbClr val="013263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88907" y="244801"/>
            <a:ext cx="9881749" cy="4517948"/>
            <a:chOff x="0" y="0"/>
            <a:chExt cx="2602600" cy="11899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02600" cy="1189912"/>
            </a:xfrm>
            <a:custGeom>
              <a:avLst/>
              <a:gdLst/>
              <a:ahLst/>
              <a:cxnLst/>
              <a:rect l="l" t="t" r="r" b="b"/>
              <a:pathLst>
                <a:path w="2602600" h="1189912">
                  <a:moveTo>
                    <a:pt x="40740" y="0"/>
                  </a:moveTo>
                  <a:lnTo>
                    <a:pt x="2561861" y="0"/>
                  </a:lnTo>
                  <a:cubicBezTo>
                    <a:pt x="2584361" y="0"/>
                    <a:pt x="2602600" y="18240"/>
                    <a:pt x="2602600" y="40740"/>
                  </a:cubicBezTo>
                  <a:lnTo>
                    <a:pt x="2602600" y="1149172"/>
                  </a:lnTo>
                  <a:cubicBezTo>
                    <a:pt x="2602600" y="1171672"/>
                    <a:pt x="2584361" y="1189912"/>
                    <a:pt x="2561861" y="1189912"/>
                  </a:cubicBezTo>
                  <a:lnTo>
                    <a:pt x="40740" y="1189912"/>
                  </a:lnTo>
                  <a:cubicBezTo>
                    <a:pt x="18240" y="1189912"/>
                    <a:pt x="0" y="1171672"/>
                    <a:pt x="0" y="1149172"/>
                  </a:cubicBezTo>
                  <a:lnTo>
                    <a:pt x="0" y="40740"/>
                  </a:lnTo>
                  <a:cubicBezTo>
                    <a:pt x="0" y="18240"/>
                    <a:pt x="18240" y="0"/>
                    <a:pt x="4074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602600" cy="1228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8907" y="4915003"/>
            <a:ext cx="17910186" cy="5127196"/>
            <a:chOff x="0" y="0"/>
            <a:chExt cx="4717086" cy="13503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717086" cy="1350373"/>
            </a:xfrm>
            <a:custGeom>
              <a:avLst/>
              <a:gdLst/>
              <a:ahLst/>
              <a:cxnLst/>
              <a:rect l="l" t="t" r="r" b="b"/>
              <a:pathLst>
                <a:path w="4717086" h="1350373">
                  <a:moveTo>
                    <a:pt x="22478" y="0"/>
                  </a:moveTo>
                  <a:lnTo>
                    <a:pt x="4694608" y="0"/>
                  </a:lnTo>
                  <a:cubicBezTo>
                    <a:pt x="4700570" y="0"/>
                    <a:pt x="4706287" y="2368"/>
                    <a:pt x="4710502" y="6584"/>
                  </a:cubicBezTo>
                  <a:cubicBezTo>
                    <a:pt x="4714718" y="10799"/>
                    <a:pt x="4717086" y="16516"/>
                    <a:pt x="4717086" y="22478"/>
                  </a:cubicBezTo>
                  <a:lnTo>
                    <a:pt x="4717086" y="1327895"/>
                  </a:lnTo>
                  <a:cubicBezTo>
                    <a:pt x="4717086" y="1333856"/>
                    <a:pt x="4714718" y="1339574"/>
                    <a:pt x="4710502" y="1343789"/>
                  </a:cubicBezTo>
                  <a:cubicBezTo>
                    <a:pt x="4706287" y="1348005"/>
                    <a:pt x="4700570" y="1350373"/>
                    <a:pt x="4694608" y="1350373"/>
                  </a:cubicBezTo>
                  <a:lnTo>
                    <a:pt x="22478" y="1350373"/>
                  </a:lnTo>
                  <a:cubicBezTo>
                    <a:pt x="16516" y="1350373"/>
                    <a:pt x="10799" y="1348005"/>
                    <a:pt x="6584" y="1343789"/>
                  </a:cubicBezTo>
                  <a:cubicBezTo>
                    <a:pt x="2368" y="1339574"/>
                    <a:pt x="0" y="1333856"/>
                    <a:pt x="0" y="1327895"/>
                  </a:cubicBezTo>
                  <a:lnTo>
                    <a:pt x="0" y="22478"/>
                  </a:lnTo>
                  <a:cubicBezTo>
                    <a:pt x="0" y="16516"/>
                    <a:pt x="2368" y="10799"/>
                    <a:pt x="6584" y="6584"/>
                  </a:cubicBezTo>
                  <a:cubicBezTo>
                    <a:pt x="10799" y="2368"/>
                    <a:pt x="16516" y="0"/>
                    <a:pt x="2247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717086" cy="1388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076599" y="5143500"/>
            <a:ext cx="754201" cy="754201"/>
            <a:chOff x="0" y="0"/>
            <a:chExt cx="1005602" cy="1005602"/>
          </a:xfrm>
        </p:grpSpPr>
        <p:grpSp>
          <p:nvGrpSpPr>
            <p:cNvPr id="11" name="Group 11"/>
            <p:cNvGrpSpPr/>
            <p:nvPr/>
          </p:nvGrpSpPr>
          <p:grpSpPr>
            <a:xfrm>
              <a:off x="17176" y="17176"/>
              <a:ext cx="971250" cy="971250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 rot="-2700000">
              <a:off x="147267" y="147267"/>
              <a:ext cx="711068" cy="711068"/>
            </a:xfrm>
            <a:custGeom>
              <a:avLst/>
              <a:gdLst/>
              <a:ahLst/>
              <a:cxnLst/>
              <a:rect l="l" t="t" r="r" b="b"/>
              <a:pathLst>
                <a:path w="711068" h="711068">
                  <a:moveTo>
                    <a:pt x="0" y="0"/>
                  </a:moveTo>
                  <a:lnTo>
                    <a:pt x="711068" y="0"/>
                  </a:lnTo>
                  <a:lnTo>
                    <a:pt x="711068" y="711068"/>
                  </a:lnTo>
                  <a:lnTo>
                    <a:pt x="0" y="711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72587" y="5610224"/>
            <a:ext cx="13035591" cy="3648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📦 Matches processed: 1000+</a:t>
            </a:r>
          </a:p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🔢 Total deliveries analyzed: ~3 million</a:t>
            </a:r>
          </a:p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👤 Unique players: Over 800</a:t>
            </a:r>
          </a:p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🏟️ Venues covered: 40+</a:t>
            </a:r>
          </a:p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🧾 Total features/columns in final DataFrame: 60+</a:t>
            </a:r>
          </a:p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Built one of the most granular IPL datasets using public web data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11387" y="1223772"/>
            <a:ext cx="8767315" cy="261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</a:pPr>
            <a:r>
              <a:rPr lang="en-US" sz="8800">
                <a:solidFill>
                  <a:srgbClr val="0132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SUMMARY STATISTICS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2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8432" y="4243851"/>
            <a:ext cx="8426668" cy="5798348"/>
            <a:chOff x="0" y="0"/>
            <a:chExt cx="1697379" cy="11679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7379" cy="1167958"/>
            </a:xfrm>
            <a:custGeom>
              <a:avLst/>
              <a:gdLst/>
              <a:ahLst/>
              <a:cxnLst/>
              <a:rect l="l" t="t" r="r" b="b"/>
              <a:pathLst>
                <a:path w="1697379" h="1167958">
                  <a:moveTo>
                    <a:pt x="45937" y="0"/>
                  </a:moveTo>
                  <a:lnTo>
                    <a:pt x="1651442" y="0"/>
                  </a:lnTo>
                  <a:cubicBezTo>
                    <a:pt x="1676813" y="0"/>
                    <a:pt x="1697379" y="20567"/>
                    <a:pt x="1697379" y="45937"/>
                  </a:cubicBezTo>
                  <a:lnTo>
                    <a:pt x="1697379" y="1122021"/>
                  </a:lnTo>
                  <a:cubicBezTo>
                    <a:pt x="1697379" y="1147391"/>
                    <a:pt x="1676813" y="1167958"/>
                    <a:pt x="1651442" y="1167958"/>
                  </a:cubicBezTo>
                  <a:lnTo>
                    <a:pt x="45937" y="1167958"/>
                  </a:lnTo>
                  <a:cubicBezTo>
                    <a:pt x="20567" y="1167958"/>
                    <a:pt x="0" y="1147391"/>
                    <a:pt x="0" y="1122021"/>
                  </a:cubicBezTo>
                  <a:lnTo>
                    <a:pt x="0" y="45937"/>
                  </a:lnTo>
                  <a:cubicBezTo>
                    <a:pt x="0" y="20567"/>
                    <a:pt x="20567" y="0"/>
                    <a:pt x="45937" y="0"/>
                  </a:cubicBezTo>
                  <a:close/>
                </a:path>
              </a:pathLst>
            </a:custGeom>
            <a:blipFill>
              <a:blip r:embed="rId2"/>
              <a:stretch>
                <a:fillRect l="-225" r="-225"/>
              </a:stretch>
            </a:blipFill>
            <a:ln w="19050" cap="rnd">
              <a:solidFill>
                <a:srgbClr val="013263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244801"/>
            <a:ext cx="17860852" cy="3676818"/>
            <a:chOff x="0" y="0"/>
            <a:chExt cx="4704093" cy="9683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04093" cy="968380"/>
            </a:xfrm>
            <a:custGeom>
              <a:avLst/>
              <a:gdLst/>
              <a:ahLst/>
              <a:cxnLst/>
              <a:rect l="l" t="t" r="r" b="b"/>
              <a:pathLst>
                <a:path w="4704093" h="968380">
                  <a:moveTo>
                    <a:pt x="22540" y="0"/>
                  </a:moveTo>
                  <a:lnTo>
                    <a:pt x="4681553" y="0"/>
                  </a:lnTo>
                  <a:cubicBezTo>
                    <a:pt x="4687531" y="0"/>
                    <a:pt x="4693264" y="2375"/>
                    <a:pt x="4697491" y="6602"/>
                  </a:cubicBezTo>
                  <a:cubicBezTo>
                    <a:pt x="4701718" y="10829"/>
                    <a:pt x="4704093" y="16562"/>
                    <a:pt x="4704093" y="22540"/>
                  </a:cubicBezTo>
                  <a:lnTo>
                    <a:pt x="4704093" y="945840"/>
                  </a:lnTo>
                  <a:cubicBezTo>
                    <a:pt x="4704093" y="958289"/>
                    <a:pt x="4694001" y="968380"/>
                    <a:pt x="4681553" y="968380"/>
                  </a:cubicBezTo>
                  <a:lnTo>
                    <a:pt x="22540" y="968380"/>
                  </a:lnTo>
                  <a:cubicBezTo>
                    <a:pt x="10091" y="968380"/>
                    <a:pt x="0" y="958289"/>
                    <a:pt x="0" y="945840"/>
                  </a:cubicBezTo>
                  <a:lnTo>
                    <a:pt x="0" y="22540"/>
                  </a:lnTo>
                  <a:cubicBezTo>
                    <a:pt x="0" y="16562"/>
                    <a:pt x="2375" y="10829"/>
                    <a:pt x="6602" y="6602"/>
                  </a:cubicBezTo>
                  <a:cubicBezTo>
                    <a:pt x="10829" y="2375"/>
                    <a:pt x="16562" y="0"/>
                    <a:pt x="2254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704093" cy="10064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212535" y="8211535"/>
            <a:ext cx="1028575" cy="102857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132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2700000">
            <a:off x="16350304" y="8349304"/>
            <a:ext cx="753037" cy="753037"/>
          </a:xfrm>
          <a:custGeom>
            <a:avLst/>
            <a:gdLst/>
            <a:ahLst/>
            <a:cxnLst/>
            <a:rect l="l" t="t" r="r" b="b"/>
            <a:pathLst>
              <a:path w="753037" h="753037">
                <a:moveTo>
                  <a:pt x="0" y="0"/>
                </a:moveTo>
                <a:lnTo>
                  <a:pt x="753037" y="0"/>
                </a:lnTo>
                <a:lnTo>
                  <a:pt x="753037" y="753037"/>
                </a:lnTo>
                <a:lnTo>
                  <a:pt x="0" y="753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0228869" y="8447057"/>
            <a:ext cx="329167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13263"/>
                </a:solidFill>
                <a:latin typeface="Inter Medium"/>
                <a:ea typeface="Inter Medium"/>
                <a:cs typeface="Inter Medium"/>
                <a:sym typeface="Inter Medium"/>
              </a:rPr>
              <a:t>@reallygreatsite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037663" y="4066971"/>
            <a:ext cx="9061430" cy="5975229"/>
            <a:chOff x="0" y="0"/>
            <a:chExt cx="2386550" cy="157372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86549" cy="1573723"/>
            </a:xfrm>
            <a:custGeom>
              <a:avLst/>
              <a:gdLst/>
              <a:ahLst/>
              <a:cxnLst/>
              <a:rect l="l" t="t" r="r" b="b"/>
              <a:pathLst>
                <a:path w="2386549" h="1573723">
                  <a:moveTo>
                    <a:pt x="44428" y="0"/>
                  </a:moveTo>
                  <a:lnTo>
                    <a:pt x="2342122" y="0"/>
                  </a:lnTo>
                  <a:cubicBezTo>
                    <a:pt x="2366658" y="0"/>
                    <a:pt x="2386549" y="19891"/>
                    <a:pt x="2386549" y="44428"/>
                  </a:cubicBezTo>
                  <a:lnTo>
                    <a:pt x="2386549" y="1529295"/>
                  </a:lnTo>
                  <a:cubicBezTo>
                    <a:pt x="2386549" y="1541078"/>
                    <a:pt x="2381869" y="1552378"/>
                    <a:pt x="2373537" y="1560710"/>
                  </a:cubicBezTo>
                  <a:cubicBezTo>
                    <a:pt x="2365205" y="1569042"/>
                    <a:pt x="2353905" y="1573723"/>
                    <a:pt x="2342122" y="1573723"/>
                  </a:cubicBezTo>
                  <a:lnTo>
                    <a:pt x="44428" y="1573723"/>
                  </a:lnTo>
                  <a:cubicBezTo>
                    <a:pt x="32645" y="1573723"/>
                    <a:pt x="21344" y="1569042"/>
                    <a:pt x="13013" y="1560710"/>
                  </a:cubicBezTo>
                  <a:cubicBezTo>
                    <a:pt x="4681" y="1552378"/>
                    <a:pt x="0" y="1541078"/>
                    <a:pt x="0" y="1529295"/>
                  </a:cubicBezTo>
                  <a:lnTo>
                    <a:pt x="0" y="44428"/>
                  </a:lnTo>
                  <a:cubicBezTo>
                    <a:pt x="0" y="32645"/>
                    <a:pt x="4681" y="21344"/>
                    <a:pt x="13013" y="13013"/>
                  </a:cubicBezTo>
                  <a:cubicBezTo>
                    <a:pt x="21344" y="4681"/>
                    <a:pt x="32645" y="0"/>
                    <a:pt x="4442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386550" cy="1611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106727" y="1508904"/>
            <a:ext cx="10074547" cy="1612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7"/>
              </a:lnSpc>
            </a:pPr>
            <a:r>
              <a:rPr lang="en-US" sz="6273">
                <a:solidFill>
                  <a:srgbClr val="0132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TOP 20 RUN SCORERS (2008–2024)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99259" y="4447492"/>
            <a:ext cx="8321772" cy="4742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280" lvl="1" indent="-266640" algn="l">
              <a:lnSpc>
                <a:spcPts val="3458"/>
              </a:lnSpc>
              <a:buFont typeface="Arial"/>
              <a:buChar char="•"/>
            </a:pPr>
            <a:r>
              <a:rPr lang="en-US" sz="24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Aggregated runs scored by each player across all seasons</a:t>
            </a:r>
          </a:p>
          <a:p>
            <a:pPr marL="533280" lvl="1" indent="-266640" algn="l">
              <a:lnSpc>
                <a:spcPts val="3458"/>
              </a:lnSpc>
              <a:buFont typeface="Arial"/>
              <a:buChar char="•"/>
            </a:pPr>
            <a:r>
              <a:rPr lang="en-US" sz="24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Top scorers include:</a:t>
            </a:r>
          </a:p>
          <a:p>
            <a:pPr marL="1066560" lvl="2" indent="-355520" algn="l">
              <a:lnSpc>
                <a:spcPts val="3458"/>
              </a:lnSpc>
              <a:buFont typeface="Arial"/>
              <a:buChar char="⚬"/>
            </a:pPr>
            <a:r>
              <a:rPr lang="en-US" sz="24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Virat Kohli</a:t>
            </a:r>
          </a:p>
          <a:p>
            <a:pPr marL="1066560" lvl="2" indent="-355520" algn="l">
              <a:lnSpc>
                <a:spcPts val="3458"/>
              </a:lnSpc>
              <a:buFont typeface="Arial"/>
              <a:buChar char="⚬"/>
            </a:pPr>
            <a:r>
              <a:rPr lang="en-US" sz="24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Suresh Raina</a:t>
            </a:r>
          </a:p>
          <a:p>
            <a:pPr marL="1066560" lvl="2" indent="-355520" algn="l">
              <a:lnSpc>
                <a:spcPts val="3458"/>
              </a:lnSpc>
              <a:buFont typeface="Arial"/>
              <a:buChar char="⚬"/>
            </a:pPr>
            <a:r>
              <a:rPr lang="en-US" sz="24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David Warner</a:t>
            </a:r>
          </a:p>
          <a:p>
            <a:pPr marL="1066560" lvl="2" indent="-355520" algn="l">
              <a:lnSpc>
                <a:spcPts val="3458"/>
              </a:lnSpc>
              <a:buFont typeface="Arial"/>
              <a:buChar char="⚬"/>
            </a:pPr>
            <a:r>
              <a:rPr lang="en-US" sz="24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Rohit Sharma</a:t>
            </a:r>
          </a:p>
          <a:p>
            <a:pPr marL="533280" lvl="1" indent="-266640" algn="l">
              <a:lnSpc>
                <a:spcPts val="3458"/>
              </a:lnSpc>
              <a:buFont typeface="Arial"/>
              <a:buChar char="•"/>
            </a:pPr>
            <a:r>
              <a:rPr lang="en-US" sz="24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Shows consistency and dominance over time</a:t>
            </a:r>
          </a:p>
          <a:p>
            <a:pPr marL="533280" lvl="1" indent="-266640" algn="l">
              <a:lnSpc>
                <a:spcPts val="3458"/>
              </a:lnSpc>
              <a:buFont typeface="Arial"/>
              <a:buChar char="•"/>
            </a:pPr>
            <a:r>
              <a:rPr lang="en-US" sz="24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Displayed via an interactive bar chart with total runs per player</a:t>
            </a:r>
          </a:p>
          <a:p>
            <a:pPr algn="l">
              <a:lnSpc>
                <a:spcPts val="3458"/>
              </a:lnSpc>
              <a:spcBef>
                <a:spcPct val="0"/>
              </a:spcBef>
            </a:pPr>
            <a:endParaRPr lang="en-US" sz="247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2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907" y="5143500"/>
            <a:ext cx="8955093" cy="4898699"/>
            <a:chOff x="0" y="0"/>
            <a:chExt cx="1803820" cy="9867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03820" cy="986742"/>
            </a:xfrm>
            <a:custGeom>
              <a:avLst/>
              <a:gdLst/>
              <a:ahLst/>
              <a:cxnLst/>
              <a:rect l="l" t="t" r="r" b="b"/>
              <a:pathLst>
                <a:path w="1803820" h="986742">
                  <a:moveTo>
                    <a:pt x="43226" y="0"/>
                  </a:moveTo>
                  <a:lnTo>
                    <a:pt x="1760593" y="0"/>
                  </a:lnTo>
                  <a:cubicBezTo>
                    <a:pt x="1784466" y="0"/>
                    <a:pt x="1803820" y="19353"/>
                    <a:pt x="1803820" y="43226"/>
                  </a:cubicBezTo>
                  <a:lnTo>
                    <a:pt x="1803820" y="943516"/>
                  </a:lnTo>
                  <a:cubicBezTo>
                    <a:pt x="1803820" y="954980"/>
                    <a:pt x="1799265" y="965975"/>
                    <a:pt x="1791159" y="974082"/>
                  </a:cubicBezTo>
                  <a:cubicBezTo>
                    <a:pt x="1783052" y="982188"/>
                    <a:pt x="1772058" y="986742"/>
                    <a:pt x="1760593" y="986742"/>
                  </a:cubicBezTo>
                  <a:lnTo>
                    <a:pt x="43226" y="986742"/>
                  </a:lnTo>
                  <a:cubicBezTo>
                    <a:pt x="19353" y="986742"/>
                    <a:pt x="0" y="967389"/>
                    <a:pt x="0" y="943516"/>
                  </a:cubicBezTo>
                  <a:lnTo>
                    <a:pt x="0" y="43226"/>
                  </a:lnTo>
                  <a:cubicBezTo>
                    <a:pt x="0" y="19353"/>
                    <a:pt x="19353" y="0"/>
                    <a:pt x="43226" y="0"/>
                  </a:cubicBezTo>
                  <a:close/>
                </a:path>
              </a:pathLst>
            </a:custGeom>
            <a:blipFill>
              <a:blip r:embed="rId2"/>
              <a:stretch>
                <a:fillRect l="-1124" r="-1124"/>
              </a:stretch>
            </a:blipFill>
            <a:ln w="19050" cap="rnd">
              <a:solidFill>
                <a:srgbClr val="013263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88907" y="244801"/>
            <a:ext cx="17910186" cy="3676818"/>
            <a:chOff x="0" y="0"/>
            <a:chExt cx="4717086" cy="9683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17086" cy="968380"/>
            </a:xfrm>
            <a:custGeom>
              <a:avLst/>
              <a:gdLst/>
              <a:ahLst/>
              <a:cxnLst/>
              <a:rect l="l" t="t" r="r" b="b"/>
              <a:pathLst>
                <a:path w="4717086" h="968380">
                  <a:moveTo>
                    <a:pt x="22478" y="0"/>
                  </a:moveTo>
                  <a:lnTo>
                    <a:pt x="4694608" y="0"/>
                  </a:lnTo>
                  <a:cubicBezTo>
                    <a:pt x="4700570" y="0"/>
                    <a:pt x="4706287" y="2368"/>
                    <a:pt x="4710502" y="6584"/>
                  </a:cubicBezTo>
                  <a:cubicBezTo>
                    <a:pt x="4714718" y="10799"/>
                    <a:pt x="4717086" y="16516"/>
                    <a:pt x="4717086" y="22478"/>
                  </a:cubicBezTo>
                  <a:lnTo>
                    <a:pt x="4717086" y="945902"/>
                  </a:lnTo>
                  <a:cubicBezTo>
                    <a:pt x="4717086" y="951864"/>
                    <a:pt x="4714718" y="957581"/>
                    <a:pt x="4710502" y="961796"/>
                  </a:cubicBezTo>
                  <a:cubicBezTo>
                    <a:pt x="4706287" y="966012"/>
                    <a:pt x="4700570" y="968380"/>
                    <a:pt x="4694608" y="968380"/>
                  </a:cubicBezTo>
                  <a:lnTo>
                    <a:pt x="22478" y="968380"/>
                  </a:lnTo>
                  <a:cubicBezTo>
                    <a:pt x="16516" y="968380"/>
                    <a:pt x="10799" y="966012"/>
                    <a:pt x="6584" y="961796"/>
                  </a:cubicBezTo>
                  <a:cubicBezTo>
                    <a:pt x="2368" y="957581"/>
                    <a:pt x="0" y="951864"/>
                    <a:pt x="0" y="945902"/>
                  </a:cubicBezTo>
                  <a:lnTo>
                    <a:pt x="0" y="22478"/>
                  </a:lnTo>
                  <a:cubicBezTo>
                    <a:pt x="0" y="16516"/>
                    <a:pt x="2368" y="10799"/>
                    <a:pt x="6584" y="6584"/>
                  </a:cubicBezTo>
                  <a:cubicBezTo>
                    <a:pt x="10799" y="2368"/>
                    <a:pt x="16516" y="0"/>
                    <a:pt x="2247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717086" cy="10064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212535" y="8211535"/>
            <a:ext cx="1028575" cy="102857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132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2700000">
            <a:off x="16350304" y="8349304"/>
            <a:ext cx="753037" cy="753037"/>
          </a:xfrm>
          <a:custGeom>
            <a:avLst/>
            <a:gdLst/>
            <a:ahLst/>
            <a:cxnLst/>
            <a:rect l="l" t="t" r="r" b="b"/>
            <a:pathLst>
              <a:path w="753037" h="753037">
                <a:moveTo>
                  <a:pt x="0" y="0"/>
                </a:moveTo>
                <a:lnTo>
                  <a:pt x="753037" y="0"/>
                </a:lnTo>
                <a:lnTo>
                  <a:pt x="753037" y="753037"/>
                </a:lnTo>
                <a:lnTo>
                  <a:pt x="0" y="753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0228869" y="8447057"/>
            <a:ext cx="329167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13263"/>
                </a:solidFill>
                <a:latin typeface="Inter Medium"/>
                <a:ea typeface="Inter Medium"/>
                <a:cs typeface="Inter Medium"/>
                <a:sym typeface="Inter Medium"/>
              </a:rPr>
              <a:t>@reallygreatsite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352068" y="4066971"/>
            <a:ext cx="8747025" cy="5975229"/>
            <a:chOff x="0" y="0"/>
            <a:chExt cx="2303743" cy="157372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03743" cy="1573723"/>
            </a:xfrm>
            <a:custGeom>
              <a:avLst/>
              <a:gdLst/>
              <a:ahLst/>
              <a:cxnLst/>
              <a:rect l="l" t="t" r="r" b="b"/>
              <a:pathLst>
                <a:path w="2303743" h="1573723">
                  <a:moveTo>
                    <a:pt x="46025" y="0"/>
                  </a:moveTo>
                  <a:lnTo>
                    <a:pt x="2257719" y="0"/>
                  </a:lnTo>
                  <a:cubicBezTo>
                    <a:pt x="2269925" y="0"/>
                    <a:pt x="2281632" y="4849"/>
                    <a:pt x="2290263" y="13480"/>
                  </a:cubicBezTo>
                  <a:cubicBezTo>
                    <a:pt x="2298894" y="22112"/>
                    <a:pt x="2303743" y="33818"/>
                    <a:pt x="2303743" y="46025"/>
                  </a:cubicBezTo>
                  <a:lnTo>
                    <a:pt x="2303743" y="1527698"/>
                  </a:lnTo>
                  <a:cubicBezTo>
                    <a:pt x="2303743" y="1539905"/>
                    <a:pt x="2298894" y="1551611"/>
                    <a:pt x="2290263" y="1560242"/>
                  </a:cubicBezTo>
                  <a:cubicBezTo>
                    <a:pt x="2281632" y="1568874"/>
                    <a:pt x="2269925" y="1573723"/>
                    <a:pt x="2257719" y="1573723"/>
                  </a:cubicBezTo>
                  <a:lnTo>
                    <a:pt x="46025" y="1573723"/>
                  </a:lnTo>
                  <a:cubicBezTo>
                    <a:pt x="33818" y="1573723"/>
                    <a:pt x="22112" y="1568874"/>
                    <a:pt x="13480" y="1560242"/>
                  </a:cubicBezTo>
                  <a:cubicBezTo>
                    <a:pt x="4849" y="1551611"/>
                    <a:pt x="0" y="1539905"/>
                    <a:pt x="0" y="1527698"/>
                  </a:cubicBezTo>
                  <a:lnTo>
                    <a:pt x="0" y="46025"/>
                  </a:lnTo>
                  <a:cubicBezTo>
                    <a:pt x="0" y="33818"/>
                    <a:pt x="4849" y="22112"/>
                    <a:pt x="13480" y="13480"/>
                  </a:cubicBezTo>
                  <a:cubicBezTo>
                    <a:pt x="22112" y="4849"/>
                    <a:pt x="33818" y="0"/>
                    <a:pt x="4602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303743" cy="1611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106727" y="1338731"/>
            <a:ext cx="10074547" cy="1612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7"/>
              </a:lnSpc>
            </a:pPr>
            <a:r>
              <a:rPr lang="en-US" sz="6273">
                <a:solidFill>
                  <a:srgbClr val="0132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RUN RATE OVER SEASONS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96015" y="4304035"/>
            <a:ext cx="8059131" cy="5128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515" lvl="1" indent="-348757" algn="l">
              <a:lnSpc>
                <a:spcPts val="4523"/>
              </a:lnSpc>
              <a:buFont typeface="Arial"/>
              <a:buChar char="•"/>
            </a:pPr>
            <a:r>
              <a:rPr lang="en-US" sz="323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Calculated average run rate = Total runs / Valid overs per season</a:t>
            </a:r>
          </a:p>
          <a:p>
            <a:pPr marL="697515" lvl="1" indent="-348757" algn="l">
              <a:lnSpc>
                <a:spcPts val="4523"/>
              </a:lnSpc>
              <a:buFont typeface="Arial"/>
              <a:buChar char="•"/>
            </a:pPr>
            <a:r>
              <a:rPr lang="en-US" sz="323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Clear upward trend: IPL has become more aggressive</a:t>
            </a:r>
          </a:p>
          <a:p>
            <a:pPr marL="697515" lvl="1" indent="-348757" algn="l">
              <a:lnSpc>
                <a:spcPts val="4523"/>
              </a:lnSpc>
              <a:buFont typeface="Arial"/>
              <a:buChar char="•"/>
            </a:pPr>
            <a:r>
              <a:rPr lang="en-US" sz="323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2016 and 2024 were particularly high-scoring seasons</a:t>
            </a:r>
          </a:p>
          <a:p>
            <a:pPr marL="697515" lvl="1" indent="-348757" algn="l">
              <a:lnSpc>
                <a:spcPts val="4523"/>
              </a:lnSpc>
              <a:buFont typeface="Arial"/>
              <a:buChar char="•"/>
            </a:pPr>
            <a:r>
              <a:rPr lang="en-US" sz="323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Reflects changes in tactics, rules, and batting depth</a:t>
            </a:r>
          </a:p>
          <a:p>
            <a:pPr algn="l">
              <a:lnSpc>
                <a:spcPts val="4523"/>
              </a:lnSpc>
              <a:spcBef>
                <a:spcPct val="0"/>
              </a:spcBef>
            </a:pPr>
            <a:r>
              <a:rPr lang="en-US" sz="323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Displayed using a season-wise line chart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389799" y="4155459"/>
            <a:ext cx="754201" cy="754201"/>
            <a:chOff x="0" y="0"/>
            <a:chExt cx="1005602" cy="1005602"/>
          </a:xfrm>
        </p:grpSpPr>
        <p:grpSp>
          <p:nvGrpSpPr>
            <p:cNvPr id="18" name="Group 18"/>
            <p:cNvGrpSpPr/>
            <p:nvPr/>
          </p:nvGrpSpPr>
          <p:grpSpPr>
            <a:xfrm>
              <a:off x="17176" y="17176"/>
              <a:ext cx="971250" cy="971250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 rot="-2700000">
              <a:off x="147267" y="147267"/>
              <a:ext cx="711068" cy="711068"/>
            </a:xfrm>
            <a:custGeom>
              <a:avLst/>
              <a:gdLst/>
              <a:ahLst/>
              <a:cxnLst/>
              <a:rect l="l" t="t" r="r" b="b"/>
              <a:pathLst>
                <a:path w="711068" h="711068">
                  <a:moveTo>
                    <a:pt x="0" y="0"/>
                  </a:moveTo>
                  <a:lnTo>
                    <a:pt x="711068" y="0"/>
                  </a:lnTo>
                  <a:lnTo>
                    <a:pt x="711068" y="711068"/>
                  </a:lnTo>
                  <a:lnTo>
                    <a:pt x="0" y="711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88907" y="4165599"/>
            <a:ext cx="8042740" cy="733920"/>
            <a:chOff x="0" y="0"/>
            <a:chExt cx="2118253" cy="19329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18253" cy="193296"/>
            </a:xfrm>
            <a:custGeom>
              <a:avLst/>
              <a:gdLst/>
              <a:ahLst/>
              <a:cxnLst/>
              <a:rect l="l" t="t" r="r" b="b"/>
              <a:pathLst>
                <a:path w="2118253" h="193296">
                  <a:moveTo>
                    <a:pt x="50055" y="0"/>
                  </a:moveTo>
                  <a:lnTo>
                    <a:pt x="2068198" y="0"/>
                  </a:lnTo>
                  <a:cubicBezTo>
                    <a:pt x="2081473" y="0"/>
                    <a:pt x="2094205" y="5274"/>
                    <a:pt x="2103592" y="14661"/>
                  </a:cubicBezTo>
                  <a:cubicBezTo>
                    <a:pt x="2112979" y="24048"/>
                    <a:pt x="2118253" y="36780"/>
                    <a:pt x="2118253" y="50055"/>
                  </a:cubicBezTo>
                  <a:lnTo>
                    <a:pt x="2118253" y="143241"/>
                  </a:lnTo>
                  <a:cubicBezTo>
                    <a:pt x="2118253" y="156516"/>
                    <a:pt x="2112979" y="169248"/>
                    <a:pt x="2103592" y="178635"/>
                  </a:cubicBezTo>
                  <a:cubicBezTo>
                    <a:pt x="2094205" y="188022"/>
                    <a:pt x="2081473" y="193296"/>
                    <a:pt x="2068198" y="193296"/>
                  </a:cubicBezTo>
                  <a:lnTo>
                    <a:pt x="50055" y="193296"/>
                  </a:lnTo>
                  <a:cubicBezTo>
                    <a:pt x="36780" y="193296"/>
                    <a:pt x="24048" y="188022"/>
                    <a:pt x="14661" y="178635"/>
                  </a:cubicBezTo>
                  <a:cubicBezTo>
                    <a:pt x="5274" y="169248"/>
                    <a:pt x="0" y="156516"/>
                    <a:pt x="0" y="143241"/>
                  </a:cubicBezTo>
                  <a:lnTo>
                    <a:pt x="0" y="50055"/>
                  </a:lnTo>
                  <a:cubicBezTo>
                    <a:pt x="0" y="36780"/>
                    <a:pt x="5274" y="24048"/>
                    <a:pt x="14661" y="14661"/>
                  </a:cubicBezTo>
                  <a:cubicBezTo>
                    <a:pt x="24048" y="5274"/>
                    <a:pt x="36780" y="0"/>
                    <a:pt x="500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118253" cy="231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2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838" y="5321093"/>
            <a:ext cx="6997220" cy="3688211"/>
            <a:chOff x="0" y="0"/>
            <a:chExt cx="1409446" cy="742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09446" cy="742914"/>
            </a:xfrm>
            <a:custGeom>
              <a:avLst/>
              <a:gdLst/>
              <a:ahLst/>
              <a:cxnLst/>
              <a:rect l="l" t="t" r="r" b="b"/>
              <a:pathLst>
                <a:path w="1409446" h="742914">
                  <a:moveTo>
                    <a:pt x="55321" y="0"/>
                  </a:moveTo>
                  <a:lnTo>
                    <a:pt x="1354125" y="0"/>
                  </a:lnTo>
                  <a:cubicBezTo>
                    <a:pt x="1368797" y="0"/>
                    <a:pt x="1382868" y="5828"/>
                    <a:pt x="1393243" y="16203"/>
                  </a:cubicBezTo>
                  <a:cubicBezTo>
                    <a:pt x="1403618" y="26578"/>
                    <a:pt x="1409446" y="40649"/>
                    <a:pt x="1409446" y="55321"/>
                  </a:cubicBezTo>
                  <a:lnTo>
                    <a:pt x="1409446" y="687593"/>
                  </a:lnTo>
                  <a:cubicBezTo>
                    <a:pt x="1409446" y="718146"/>
                    <a:pt x="1384678" y="742914"/>
                    <a:pt x="1354125" y="742914"/>
                  </a:cubicBezTo>
                  <a:lnTo>
                    <a:pt x="55321" y="742914"/>
                  </a:lnTo>
                  <a:cubicBezTo>
                    <a:pt x="24768" y="742914"/>
                    <a:pt x="0" y="718146"/>
                    <a:pt x="0" y="687593"/>
                  </a:cubicBezTo>
                  <a:lnTo>
                    <a:pt x="0" y="55321"/>
                  </a:lnTo>
                  <a:cubicBezTo>
                    <a:pt x="0" y="24768"/>
                    <a:pt x="24768" y="0"/>
                    <a:pt x="55321" y="0"/>
                  </a:cubicBezTo>
                  <a:close/>
                </a:path>
              </a:pathLst>
            </a:custGeom>
            <a:blipFill>
              <a:blip r:embed="rId2"/>
              <a:stretch>
                <a:fillRect t="-275" b="-275"/>
              </a:stretch>
            </a:blipFill>
            <a:ln w="19050" cap="rnd">
              <a:solidFill>
                <a:srgbClr val="013263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838" y="244801"/>
            <a:ext cx="17978255" cy="3676818"/>
            <a:chOff x="0" y="0"/>
            <a:chExt cx="4735014" cy="9683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35014" cy="968380"/>
            </a:xfrm>
            <a:custGeom>
              <a:avLst/>
              <a:gdLst/>
              <a:ahLst/>
              <a:cxnLst/>
              <a:rect l="l" t="t" r="r" b="b"/>
              <a:pathLst>
                <a:path w="4735014" h="968380">
                  <a:moveTo>
                    <a:pt x="22393" y="0"/>
                  </a:moveTo>
                  <a:lnTo>
                    <a:pt x="4712621" y="0"/>
                  </a:lnTo>
                  <a:cubicBezTo>
                    <a:pt x="4718560" y="0"/>
                    <a:pt x="4724256" y="2359"/>
                    <a:pt x="4728455" y="6559"/>
                  </a:cubicBezTo>
                  <a:cubicBezTo>
                    <a:pt x="4732655" y="10758"/>
                    <a:pt x="4735014" y="16454"/>
                    <a:pt x="4735014" y="22393"/>
                  </a:cubicBezTo>
                  <a:lnTo>
                    <a:pt x="4735014" y="945987"/>
                  </a:lnTo>
                  <a:cubicBezTo>
                    <a:pt x="4735014" y="958354"/>
                    <a:pt x="4724988" y="968380"/>
                    <a:pt x="4712621" y="968380"/>
                  </a:cubicBezTo>
                  <a:lnTo>
                    <a:pt x="22393" y="968380"/>
                  </a:lnTo>
                  <a:cubicBezTo>
                    <a:pt x="10026" y="968380"/>
                    <a:pt x="0" y="958354"/>
                    <a:pt x="0" y="945987"/>
                  </a:cubicBezTo>
                  <a:lnTo>
                    <a:pt x="0" y="22393"/>
                  </a:lnTo>
                  <a:cubicBezTo>
                    <a:pt x="0" y="10026"/>
                    <a:pt x="10026" y="0"/>
                    <a:pt x="2239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735014" cy="10064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212535" y="8211535"/>
            <a:ext cx="1028575" cy="102857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132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2700000">
            <a:off x="16350304" y="8349304"/>
            <a:ext cx="753037" cy="753037"/>
          </a:xfrm>
          <a:custGeom>
            <a:avLst/>
            <a:gdLst/>
            <a:ahLst/>
            <a:cxnLst/>
            <a:rect l="l" t="t" r="r" b="b"/>
            <a:pathLst>
              <a:path w="753037" h="753037">
                <a:moveTo>
                  <a:pt x="0" y="0"/>
                </a:moveTo>
                <a:lnTo>
                  <a:pt x="753037" y="0"/>
                </a:lnTo>
                <a:lnTo>
                  <a:pt x="753037" y="753037"/>
                </a:lnTo>
                <a:lnTo>
                  <a:pt x="0" y="753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0228869" y="8447057"/>
            <a:ext cx="329167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13263"/>
                </a:solidFill>
                <a:latin typeface="Inter Medium"/>
                <a:ea typeface="Inter Medium"/>
                <a:cs typeface="Inter Medium"/>
                <a:sym typeface="Inter Medium"/>
              </a:rPr>
              <a:t>@reallygreatsite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343868" y="4177584"/>
            <a:ext cx="10755225" cy="5975229"/>
            <a:chOff x="0" y="0"/>
            <a:chExt cx="2832652" cy="157372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32652" cy="1573723"/>
            </a:xfrm>
            <a:custGeom>
              <a:avLst/>
              <a:gdLst/>
              <a:ahLst/>
              <a:cxnLst/>
              <a:rect l="l" t="t" r="r" b="b"/>
              <a:pathLst>
                <a:path w="2832652" h="1573723">
                  <a:moveTo>
                    <a:pt x="37431" y="0"/>
                  </a:moveTo>
                  <a:lnTo>
                    <a:pt x="2795221" y="0"/>
                  </a:lnTo>
                  <a:cubicBezTo>
                    <a:pt x="2815893" y="0"/>
                    <a:pt x="2832652" y="16758"/>
                    <a:pt x="2832652" y="37431"/>
                  </a:cubicBezTo>
                  <a:lnTo>
                    <a:pt x="2832652" y="1536292"/>
                  </a:lnTo>
                  <a:cubicBezTo>
                    <a:pt x="2832652" y="1546219"/>
                    <a:pt x="2828708" y="1555740"/>
                    <a:pt x="2821688" y="1562760"/>
                  </a:cubicBezTo>
                  <a:cubicBezTo>
                    <a:pt x="2814669" y="1569779"/>
                    <a:pt x="2805148" y="1573723"/>
                    <a:pt x="2795221" y="1573723"/>
                  </a:cubicBezTo>
                  <a:lnTo>
                    <a:pt x="37431" y="1573723"/>
                  </a:lnTo>
                  <a:cubicBezTo>
                    <a:pt x="27504" y="1573723"/>
                    <a:pt x="17983" y="1569779"/>
                    <a:pt x="10963" y="1562760"/>
                  </a:cubicBezTo>
                  <a:cubicBezTo>
                    <a:pt x="3944" y="1555740"/>
                    <a:pt x="0" y="1546219"/>
                    <a:pt x="0" y="1536292"/>
                  </a:cubicBezTo>
                  <a:lnTo>
                    <a:pt x="0" y="37431"/>
                  </a:lnTo>
                  <a:cubicBezTo>
                    <a:pt x="0" y="27504"/>
                    <a:pt x="3944" y="17983"/>
                    <a:pt x="10963" y="10963"/>
                  </a:cubicBezTo>
                  <a:cubicBezTo>
                    <a:pt x="17983" y="3944"/>
                    <a:pt x="27504" y="0"/>
                    <a:pt x="374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32652" cy="1611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684207" y="1338731"/>
            <a:ext cx="10074547" cy="1612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7"/>
              </a:lnSpc>
            </a:pPr>
            <a:r>
              <a:rPr lang="en-US" sz="6273">
                <a:solidFill>
                  <a:srgbClr val="0132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BOWLING TYPE DISTRIBUTION BY OVER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95300" y="4408476"/>
            <a:ext cx="10603793" cy="5744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1228" lvl="1" indent="-320614" algn="l">
              <a:lnSpc>
                <a:spcPts val="4158"/>
              </a:lnSpc>
              <a:buFont typeface="Arial"/>
              <a:buChar char="•"/>
            </a:pPr>
            <a:r>
              <a:rPr lang="en-US" sz="29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Analyzed % of spin vs pace deliveries across all 20 overs</a:t>
            </a:r>
          </a:p>
          <a:p>
            <a:pPr marL="641228" lvl="1" indent="-320614" algn="l">
              <a:lnSpc>
                <a:spcPts val="4158"/>
              </a:lnSpc>
              <a:buFont typeface="Arial"/>
              <a:buChar char="•"/>
            </a:pPr>
            <a:r>
              <a:rPr lang="en-US" sz="29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Findings:</a:t>
            </a:r>
          </a:p>
          <a:p>
            <a:pPr marL="1282456" lvl="2" indent="-427485" algn="l">
              <a:lnSpc>
                <a:spcPts val="4158"/>
              </a:lnSpc>
              <a:buFont typeface="Arial"/>
              <a:buChar char="⚬"/>
            </a:pPr>
            <a:r>
              <a:rPr lang="en-US" sz="29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Powerplay: Dominated by pace</a:t>
            </a:r>
          </a:p>
          <a:p>
            <a:pPr marL="1282456" lvl="2" indent="-427485" algn="l">
              <a:lnSpc>
                <a:spcPts val="4158"/>
              </a:lnSpc>
              <a:buFont typeface="Arial"/>
              <a:buChar char="⚬"/>
            </a:pPr>
            <a:r>
              <a:rPr lang="en-US" sz="29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Middle overs: Heavy use of spin</a:t>
            </a:r>
          </a:p>
          <a:p>
            <a:pPr marL="1282456" lvl="2" indent="-427485" algn="l">
              <a:lnSpc>
                <a:spcPts val="4158"/>
              </a:lnSpc>
              <a:buFont typeface="Arial"/>
              <a:buChar char="⚬"/>
            </a:pPr>
            <a:r>
              <a:rPr lang="en-US" sz="29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Death overs: Pace returns with yorkers and variations</a:t>
            </a:r>
          </a:p>
          <a:p>
            <a:pPr marL="641228" lvl="1" indent="-320614" algn="l">
              <a:lnSpc>
                <a:spcPts val="4158"/>
              </a:lnSpc>
              <a:buFont typeface="Arial"/>
              <a:buChar char="•"/>
            </a:pPr>
            <a:r>
              <a:rPr lang="en-US" sz="29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Strategy clearly shifts across phases of the game</a:t>
            </a:r>
          </a:p>
          <a:p>
            <a:pPr marL="641228" lvl="1" indent="-320614" algn="l">
              <a:lnSpc>
                <a:spcPts val="4158"/>
              </a:lnSpc>
              <a:buFont typeface="Arial"/>
              <a:buChar char="•"/>
            </a:pPr>
            <a:r>
              <a:rPr lang="en-US" sz="29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Displayed using a stacked bar chart (Over vs Bowling Type %)</a:t>
            </a:r>
          </a:p>
          <a:p>
            <a:pPr algn="l">
              <a:lnSpc>
                <a:spcPts val="4158"/>
              </a:lnSpc>
              <a:spcBef>
                <a:spcPct val="0"/>
              </a:spcBef>
            </a:pPr>
            <a:endParaRPr lang="en-US" sz="297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2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907" y="4674437"/>
            <a:ext cx="6997220" cy="4760297"/>
            <a:chOff x="0" y="0"/>
            <a:chExt cx="1409446" cy="958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09446" cy="958864"/>
            </a:xfrm>
            <a:custGeom>
              <a:avLst/>
              <a:gdLst/>
              <a:ahLst/>
              <a:cxnLst/>
              <a:rect l="l" t="t" r="r" b="b"/>
              <a:pathLst>
                <a:path w="1409446" h="958864">
                  <a:moveTo>
                    <a:pt x="55321" y="0"/>
                  </a:moveTo>
                  <a:lnTo>
                    <a:pt x="1354125" y="0"/>
                  </a:lnTo>
                  <a:cubicBezTo>
                    <a:pt x="1368797" y="0"/>
                    <a:pt x="1382868" y="5828"/>
                    <a:pt x="1393243" y="16203"/>
                  </a:cubicBezTo>
                  <a:cubicBezTo>
                    <a:pt x="1403618" y="26578"/>
                    <a:pt x="1409446" y="40649"/>
                    <a:pt x="1409446" y="55321"/>
                  </a:cubicBezTo>
                  <a:lnTo>
                    <a:pt x="1409446" y="903543"/>
                  </a:lnTo>
                  <a:cubicBezTo>
                    <a:pt x="1409446" y="934096"/>
                    <a:pt x="1384678" y="958864"/>
                    <a:pt x="1354125" y="958864"/>
                  </a:cubicBezTo>
                  <a:lnTo>
                    <a:pt x="55321" y="958864"/>
                  </a:lnTo>
                  <a:cubicBezTo>
                    <a:pt x="24768" y="958864"/>
                    <a:pt x="0" y="934096"/>
                    <a:pt x="0" y="903543"/>
                  </a:cubicBezTo>
                  <a:lnTo>
                    <a:pt x="0" y="55321"/>
                  </a:lnTo>
                  <a:cubicBezTo>
                    <a:pt x="0" y="24768"/>
                    <a:pt x="24768" y="0"/>
                    <a:pt x="55321" y="0"/>
                  </a:cubicBezTo>
                  <a:close/>
                </a:path>
              </a:pathLst>
            </a:custGeom>
            <a:blipFill>
              <a:blip r:embed="rId2"/>
              <a:stretch>
                <a:fillRect t="-2549" b="-2549"/>
              </a:stretch>
            </a:blipFill>
            <a:ln w="19050" cap="rnd">
              <a:solidFill>
                <a:srgbClr val="013263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88907" y="244801"/>
            <a:ext cx="17910186" cy="3676818"/>
            <a:chOff x="0" y="0"/>
            <a:chExt cx="4717086" cy="9683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17086" cy="968380"/>
            </a:xfrm>
            <a:custGeom>
              <a:avLst/>
              <a:gdLst/>
              <a:ahLst/>
              <a:cxnLst/>
              <a:rect l="l" t="t" r="r" b="b"/>
              <a:pathLst>
                <a:path w="4717086" h="968380">
                  <a:moveTo>
                    <a:pt x="22478" y="0"/>
                  </a:moveTo>
                  <a:lnTo>
                    <a:pt x="4694608" y="0"/>
                  </a:lnTo>
                  <a:cubicBezTo>
                    <a:pt x="4700570" y="0"/>
                    <a:pt x="4706287" y="2368"/>
                    <a:pt x="4710502" y="6584"/>
                  </a:cubicBezTo>
                  <a:cubicBezTo>
                    <a:pt x="4714718" y="10799"/>
                    <a:pt x="4717086" y="16516"/>
                    <a:pt x="4717086" y="22478"/>
                  </a:cubicBezTo>
                  <a:lnTo>
                    <a:pt x="4717086" y="945902"/>
                  </a:lnTo>
                  <a:cubicBezTo>
                    <a:pt x="4717086" y="951864"/>
                    <a:pt x="4714718" y="957581"/>
                    <a:pt x="4710502" y="961796"/>
                  </a:cubicBezTo>
                  <a:cubicBezTo>
                    <a:pt x="4706287" y="966012"/>
                    <a:pt x="4700570" y="968380"/>
                    <a:pt x="4694608" y="968380"/>
                  </a:cubicBezTo>
                  <a:lnTo>
                    <a:pt x="22478" y="968380"/>
                  </a:lnTo>
                  <a:cubicBezTo>
                    <a:pt x="16516" y="968380"/>
                    <a:pt x="10799" y="966012"/>
                    <a:pt x="6584" y="961796"/>
                  </a:cubicBezTo>
                  <a:cubicBezTo>
                    <a:pt x="2368" y="957581"/>
                    <a:pt x="0" y="951864"/>
                    <a:pt x="0" y="945902"/>
                  </a:cubicBezTo>
                  <a:lnTo>
                    <a:pt x="0" y="22478"/>
                  </a:lnTo>
                  <a:cubicBezTo>
                    <a:pt x="0" y="16516"/>
                    <a:pt x="2368" y="10799"/>
                    <a:pt x="6584" y="6584"/>
                  </a:cubicBezTo>
                  <a:cubicBezTo>
                    <a:pt x="10799" y="2368"/>
                    <a:pt x="16516" y="0"/>
                    <a:pt x="2247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717086" cy="10064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212535" y="8211535"/>
            <a:ext cx="1028575" cy="102857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132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2700000">
            <a:off x="16350304" y="8349304"/>
            <a:ext cx="753037" cy="753037"/>
          </a:xfrm>
          <a:custGeom>
            <a:avLst/>
            <a:gdLst/>
            <a:ahLst/>
            <a:cxnLst/>
            <a:rect l="l" t="t" r="r" b="b"/>
            <a:pathLst>
              <a:path w="753037" h="753037">
                <a:moveTo>
                  <a:pt x="0" y="0"/>
                </a:moveTo>
                <a:lnTo>
                  <a:pt x="753037" y="0"/>
                </a:lnTo>
                <a:lnTo>
                  <a:pt x="753037" y="753037"/>
                </a:lnTo>
                <a:lnTo>
                  <a:pt x="0" y="753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0228869" y="8447057"/>
            <a:ext cx="329167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13263"/>
                </a:solidFill>
                <a:latin typeface="Inter Medium"/>
                <a:ea typeface="Inter Medium"/>
                <a:cs typeface="Inter Medium"/>
                <a:sym typeface="Inter Medium"/>
              </a:rPr>
              <a:t>@reallygreatsite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343868" y="4066971"/>
            <a:ext cx="10755225" cy="5975229"/>
            <a:chOff x="0" y="0"/>
            <a:chExt cx="2832652" cy="157372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32652" cy="1573723"/>
            </a:xfrm>
            <a:custGeom>
              <a:avLst/>
              <a:gdLst/>
              <a:ahLst/>
              <a:cxnLst/>
              <a:rect l="l" t="t" r="r" b="b"/>
              <a:pathLst>
                <a:path w="2832652" h="1573723">
                  <a:moveTo>
                    <a:pt x="37431" y="0"/>
                  </a:moveTo>
                  <a:lnTo>
                    <a:pt x="2795221" y="0"/>
                  </a:lnTo>
                  <a:cubicBezTo>
                    <a:pt x="2815893" y="0"/>
                    <a:pt x="2832652" y="16758"/>
                    <a:pt x="2832652" y="37431"/>
                  </a:cubicBezTo>
                  <a:lnTo>
                    <a:pt x="2832652" y="1536292"/>
                  </a:lnTo>
                  <a:cubicBezTo>
                    <a:pt x="2832652" y="1546219"/>
                    <a:pt x="2828708" y="1555740"/>
                    <a:pt x="2821688" y="1562760"/>
                  </a:cubicBezTo>
                  <a:cubicBezTo>
                    <a:pt x="2814669" y="1569779"/>
                    <a:pt x="2805148" y="1573723"/>
                    <a:pt x="2795221" y="1573723"/>
                  </a:cubicBezTo>
                  <a:lnTo>
                    <a:pt x="37431" y="1573723"/>
                  </a:lnTo>
                  <a:cubicBezTo>
                    <a:pt x="27504" y="1573723"/>
                    <a:pt x="17983" y="1569779"/>
                    <a:pt x="10963" y="1562760"/>
                  </a:cubicBezTo>
                  <a:cubicBezTo>
                    <a:pt x="3944" y="1555740"/>
                    <a:pt x="0" y="1546219"/>
                    <a:pt x="0" y="1536292"/>
                  </a:cubicBezTo>
                  <a:lnTo>
                    <a:pt x="0" y="37431"/>
                  </a:lnTo>
                  <a:cubicBezTo>
                    <a:pt x="0" y="27504"/>
                    <a:pt x="3944" y="17983"/>
                    <a:pt x="10963" y="10963"/>
                  </a:cubicBezTo>
                  <a:cubicBezTo>
                    <a:pt x="17983" y="3944"/>
                    <a:pt x="27504" y="0"/>
                    <a:pt x="374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32652" cy="1611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106727" y="1338731"/>
            <a:ext cx="10074547" cy="1612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7"/>
              </a:lnSpc>
            </a:pPr>
            <a:r>
              <a:rPr lang="en-US" sz="6273">
                <a:solidFill>
                  <a:srgbClr val="0132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OVER-WISE RUN RATE BY TEAM &amp; SEASON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43868" y="4370377"/>
            <a:ext cx="10603793" cy="5320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8049" lvl="1" indent="-299024" algn="l">
              <a:lnSpc>
                <a:spcPts val="3878"/>
              </a:lnSpc>
              <a:buFont typeface="Arial"/>
              <a:buChar char="•"/>
            </a:pPr>
            <a:r>
              <a:rPr lang="en-US" sz="27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Built an interactive plot with filters for:</a:t>
            </a:r>
          </a:p>
          <a:p>
            <a:pPr marL="1196098" lvl="2" indent="-398699" algn="l">
              <a:lnSpc>
                <a:spcPts val="3878"/>
              </a:lnSpc>
              <a:buFont typeface="Arial"/>
              <a:buChar char="⚬"/>
            </a:pPr>
            <a:r>
              <a:rPr lang="en-US" sz="27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Batting team</a:t>
            </a:r>
          </a:p>
          <a:p>
            <a:pPr marL="1196098" lvl="2" indent="-398699" algn="l">
              <a:lnSpc>
                <a:spcPts val="3878"/>
              </a:lnSpc>
              <a:buFont typeface="Arial"/>
              <a:buChar char="⚬"/>
            </a:pPr>
            <a:r>
              <a:rPr lang="en-US" sz="27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Season</a:t>
            </a:r>
          </a:p>
          <a:p>
            <a:pPr marL="598049" lvl="1" indent="-299024" algn="l">
              <a:lnSpc>
                <a:spcPts val="3878"/>
              </a:lnSpc>
              <a:buFont typeface="Arial"/>
              <a:buChar char="•"/>
            </a:pPr>
            <a:r>
              <a:rPr lang="en-US" sz="27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Analyzes how teams approach different overs in different years</a:t>
            </a:r>
          </a:p>
          <a:p>
            <a:pPr marL="598049" lvl="1" indent="-299024" algn="l">
              <a:lnSpc>
                <a:spcPts val="3878"/>
              </a:lnSpc>
              <a:buFont typeface="Arial"/>
              <a:buChar char="•"/>
            </a:pPr>
            <a:r>
              <a:rPr lang="en-US" sz="27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 insights:</a:t>
            </a:r>
          </a:p>
          <a:p>
            <a:pPr marL="1196098" lvl="2" indent="-398699" algn="l">
              <a:lnSpc>
                <a:spcPts val="3878"/>
              </a:lnSpc>
              <a:buFont typeface="Arial"/>
              <a:buChar char="⚬"/>
            </a:pPr>
            <a:r>
              <a:rPr lang="en-US" sz="27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RCB 2016: High scoring in death overs</a:t>
            </a:r>
          </a:p>
          <a:p>
            <a:pPr marL="1196098" lvl="2" indent="-398699" algn="l">
              <a:lnSpc>
                <a:spcPts val="3878"/>
              </a:lnSpc>
              <a:buFont typeface="Arial"/>
              <a:buChar char="⚬"/>
            </a:pPr>
            <a:r>
              <a:rPr lang="en-US" sz="27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CSK: Often conservative early, aggressive late</a:t>
            </a:r>
          </a:p>
          <a:p>
            <a:pPr marL="598049" lvl="1" indent="-299024" algn="l">
              <a:lnSpc>
                <a:spcPts val="3878"/>
              </a:lnSpc>
              <a:buFont typeface="Arial"/>
              <a:buChar char="•"/>
            </a:pPr>
            <a:r>
              <a:rPr lang="en-US" sz="27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Dropdowns allow dynamic comparison between seasons and teams</a:t>
            </a:r>
          </a:p>
          <a:p>
            <a:pPr algn="l">
              <a:lnSpc>
                <a:spcPts val="3878"/>
              </a:lnSpc>
              <a:spcBef>
                <a:spcPct val="0"/>
              </a:spcBef>
            </a:pPr>
            <a:endParaRPr lang="en-US" sz="277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2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907" y="1980634"/>
            <a:ext cx="6997220" cy="7958990"/>
            <a:chOff x="0" y="0"/>
            <a:chExt cx="1409446" cy="16031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09446" cy="1603175"/>
            </a:xfrm>
            <a:custGeom>
              <a:avLst/>
              <a:gdLst/>
              <a:ahLst/>
              <a:cxnLst/>
              <a:rect l="l" t="t" r="r" b="b"/>
              <a:pathLst>
                <a:path w="1409446" h="1603175">
                  <a:moveTo>
                    <a:pt x="55321" y="0"/>
                  </a:moveTo>
                  <a:lnTo>
                    <a:pt x="1354125" y="0"/>
                  </a:lnTo>
                  <a:cubicBezTo>
                    <a:pt x="1368797" y="0"/>
                    <a:pt x="1382868" y="5828"/>
                    <a:pt x="1393243" y="16203"/>
                  </a:cubicBezTo>
                  <a:cubicBezTo>
                    <a:pt x="1403618" y="26578"/>
                    <a:pt x="1409446" y="40649"/>
                    <a:pt x="1409446" y="55321"/>
                  </a:cubicBezTo>
                  <a:lnTo>
                    <a:pt x="1409446" y="1547854"/>
                  </a:lnTo>
                  <a:cubicBezTo>
                    <a:pt x="1409446" y="1578407"/>
                    <a:pt x="1384678" y="1603175"/>
                    <a:pt x="1354125" y="1603175"/>
                  </a:cubicBezTo>
                  <a:lnTo>
                    <a:pt x="55321" y="1603175"/>
                  </a:lnTo>
                  <a:cubicBezTo>
                    <a:pt x="24768" y="1603175"/>
                    <a:pt x="0" y="1578407"/>
                    <a:pt x="0" y="1547854"/>
                  </a:cubicBezTo>
                  <a:lnTo>
                    <a:pt x="0" y="55321"/>
                  </a:lnTo>
                  <a:cubicBezTo>
                    <a:pt x="0" y="24768"/>
                    <a:pt x="24768" y="0"/>
                    <a:pt x="55321" y="0"/>
                  </a:cubicBezTo>
                  <a:close/>
                </a:path>
              </a:pathLst>
            </a:custGeom>
            <a:blipFill>
              <a:blip r:embed="rId2"/>
              <a:stretch>
                <a:fillRect l="-824" r="-824"/>
              </a:stretch>
            </a:blipFill>
            <a:ln w="19050" cap="rnd">
              <a:solidFill>
                <a:srgbClr val="013263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43868" y="244801"/>
            <a:ext cx="10755225" cy="3676818"/>
            <a:chOff x="0" y="0"/>
            <a:chExt cx="2832652" cy="9683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32652" cy="968380"/>
            </a:xfrm>
            <a:custGeom>
              <a:avLst/>
              <a:gdLst/>
              <a:ahLst/>
              <a:cxnLst/>
              <a:rect l="l" t="t" r="r" b="b"/>
              <a:pathLst>
                <a:path w="2832652" h="968380">
                  <a:moveTo>
                    <a:pt x="37431" y="0"/>
                  </a:moveTo>
                  <a:lnTo>
                    <a:pt x="2795221" y="0"/>
                  </a:lnTo>
                  <a:cubicBezTo>
                    <a:pt x="2815893" y="0"/>
                    <a:pt x="2832652" y="16758"/>
                    <a:pt x="2832652" y="37431"/>
                  </a:cubicBezTo>
                  <a:lnTo>
                    <a:pt x="2832652" y="930949"/>
                  </a:lnTo>
                  <a:cubicBezTo>
                    <a:pt x="2832652" y="940876"/>
                    <a:pt x="2828708" y="950397"/>
                    <a:pt x="2821688" y="957417"/>
                  </a:cubicBezTo>
                  <a:cubicBezTo>
                    <a:pt x="2814669" y="964436"/>
                    <a:pt x="2805148" y="968380"/>
                    <a:pt x="2795221" y="968380"/>
                  </a:cubicBezTo>
                  <a:lnTo>
                    <a:pt x="37431" y="968380"/>
                  </a:lnTo>
                  <a:cubicBezTo>
                    <a:pt x="27504" y="968380"/>
                    <a:pt x="17983" y="964436"/>
                    <a:pt x="10963" y="957417"/>
                  </a:cubicBezTo>
                  <a:cubicBezTo>
                    <a:pt x="3944" y="950397"/>
                    <a:pt x="0" y="940876"/>
                    <a:pt x="0" y="930949"/>
                  </a:cubicBezTo>
                  <a:lnTo>
                    <a:pt x="0" y="37431"/>
                  </a:lnTo>
                  <a:cubicBezTo>
                    <a:pt x="0" y="27504"/>
                    <a:pt x="3944" y="17983"/>
                    <a:pt x="10963" y="10963"/>
                  </a:cubicBezTo>
                  <a:cubicBezTo>
                    <a:pt x="17983" y="3944"/>
                    <a:pt x="27504" y="0"/>
                    <a:pt x="3743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32652" cy="10064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212535" y="8211535"/>
            <a:ext cx="1028575" cy="102857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132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2700000">
            <a:off x="16350304" y="8349304"/>
            <a:ext cx="753037" cy="753037"/>
          </a:xfrm>
          <a:custGeom>
            <a:avLst/>
            <a:gdLst/>
            <a:ahLst/>
            <a:cxnLst/>
            <a:rect l="l" t="t" r="r" b="b"/>
            <a:pathLst>
              <a:path w="753037" h="753037">
                <a:moveTo>
                  <a:pt x="0" y="0"/>
                </a:moveTo>
                <a:lnTo>
                  <a:pt x="753037" y="0"/>
                </a:lnTo>
                <a:lnTo>
                  <a:pt x="753037" y="753037"/>
                </a:lnTo>
                <a:lnTo>
                  <a:pt x="0" y="753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0228869" y="8447057"/>
            <a:ext cx="329167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13263"/>
                </a:solidFill>
                <a:latin typeface="Inter Medium"/>
                <a:ea typeface="Inter Medium"/>
                <a:cs typeface="Inter Medium"/>
                <a:sym typeface="Inter Medium"/>
              </a:rPr>
              <a:t>@reallygreatsite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186127" y="4066971"/>
            <a:ext cx="10755225" cy="5975229"/>
            <a:chOff x="0" y="0"/>
            <a:chExt cx="2832652" cy="157372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32652" cy="1573723"/>
            </a:xfrm>
            <a:custGeom>
              <a:avLst/>
              <a:gdLst/>
              <a:ahLst/>
              <a:cxnLst/>
              <a:rect l="l" t="t" r="r" b="b"/>
              <a:pathLst>
                <a:path w="2832652" h="1573723">
                  <a:moveTo>
                    <a:pt x="37431" y="0"/>
                  </a:moveTo>
                  <a:lnTo>
                    <a:pt x="2795221" y="0"/>
                  </a:lnTo>
                  <a:cubicBezTo>
                    <a:pt x="2815893" y="0"/>
                    <a:pt x="2832652" y="16758"/>
                    <a:pt x="2832652" y="37431"/>
                  </a:cubicBezTo>
                  <a:lnTo>
                    <a:pt x="2832652" y="1536292"/>
                  </a:lnTo>
                  <a:cubicBezTo>
                    <a:pt x="2832652" y="1546219"/>
                    <a:pt x="2828708" y="1555740"/>
                    <a:pt x="2821688" y="1562760"/>
                  </a:cubicBezTo>
                  <a:cubicBezTo>
                    <a:pt x="2814669" y="1569779"/>
                    <a:pt x="2805148" y="1573723"/>
                    <a:pt x="2795221" y="1573723"/>
                  </a:cubicBezTo>
                  <a:lnTo>
                    <a:pt x="37431" y="1573723"/>
                  </a:lnTo>
                  <a:cubicBezTo>
                    <a:pt x="27504" y="1573723"/>
                    <a:pt x="17983" y="1569779"/>
                    <a:pt x="10963" y="1562760"/>
                  </a:cubicBezTo>
                  <a:cubicBezTo>
                    <a:pt x="3944" y="1555740"/>
                    <a:pt x="0" y="1546219"/>
                    <a:pt x="0" y="1536292"/>
                  </a:cubicBezTo>
                  <a:lnTo>
                    <a:pt x="0" y="37431"/>
                  </a:lnTo>
                  <a:cubicBezTo>
                    <a:pt x="0" y="27504"/>
                    <a:pt x="3944" y="17983"/>
                    <a:pt x="10963" y="10963"/>
                  </a:cubicBezTo>
                  <a:cubicBezTo>
                    <a:pt x="17983" y="3944"/>
                    <a:pt x="27504" y="0"/>
                    <a:pt x="374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32652" cy="1611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684207" y="1558137"/>
            <a:ext cx="10257145" cy="930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8"/>
              </a:lnSpc>
            </a:pPr>
            <a:r>
              <a:rPr lang="en-US" sz="3671">
                <a:solidFill>
                  <a:srgbClr val="0132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WAGON WHEEL ANALYSIS – KOHLI (2024)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43868" y="4414827"/>
            <a:ext cx="10603793" cy="526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996" lvl="1" indent="-352998" algn="l">
              <a:lnSpc>
                <a:spcPts val="4578"/>
              </a:lnSpc>
              <a:buFont typeface="Arial"/>
              <a:buChar char="•"/>
            </a:pPr>
            <a:r>
              <a:rPr lang="en-US" sz="327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Analyzed where Virat Kohli scored runs using wagon zone data</a:t>
            </a:r>
          </a:p>
          <a:p>
            <a:pPr marL="705996" lvl="1" indent="-352998" algn="l">
              <a:lnSpc>
                <a:spcPts val="4578"/>
              </a:lnSpc>
              <a:buFont typeface="Arial"/>
              <a:buChar char="•"/>
            </a:pPr>
            <a:r>
              <a:rPr lang="en-US" sz="327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Divided field into 8 directional zones</a:t>
            </a:r>
          </a:p>
          <a:p>
            <a:pPr marL="705996" lvl="1" indent="-352998" algn="l">
              <a:lnSpc>
                <a:spcPts val="4578"/>
              </a:lnSpc>
              <a:buFont typeface="Arial"/>
              <a:buChar char="•"/>
            </a:pPr>
            <a:r>
              <a:rPr lang="en-US" sz="327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Percentage of runs calculated zone-wise</a:t>
            </a:r>
          </a:p>
          <a:p>
            <a:pPr marL="705996" lvl="1" indent="-352998" algn="l">
              <a:lnSpc>
                <a:spcPts val="4578"/>
              </a:lnSpc>
              <a:buFont typeface="Arial"/>
              <a:buChar char="•"/>
            </a:pPr>
            <a:r>
              <a:rPr lang="en-US" sz="327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Found strengths in zones 3 and 6 → strong in cover drives and flicks</a:t>
            </a:r>
          </a:p>
          <a:p>
            <a:pPr marL="705996" lvl="1" indent="-352998" algn="l">
              <a:lnSpc>
                <a:spcPts val="4578"/>
              </a:lnSpc>
              <a:buFont typeface="Arial"/>
              <a:buChar char="•"/>
            </a:pPr>
            <a:r>
              <a:rPr lang="en-US" sz="327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Displayed using a polar radar-style wagon wheel chart</a:t>
            </a:r>
          </a:p>
          <a:p>
            <a:pPr algn="l">
              <a:lnSpc>
                <a:spcPts val="4578"/>
              </a:lnSpc>
              <a:spcBef>
                <a:spcPct val="0"/>
              </a:spcBef>
            </a:pPr>
            <a:endParaRPr lang="en-US" sz="3270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6083936" y="583530"/>
            <a:ext cx="1102191" cy="1102191"/>
            <a:chOff x="0" y="0"/>
            <a:chExt cx="1469588" cy="1469588"/>
          </a:xfrm>
        </p:grpSpPr>
        <p:grpSp>
          <p:nvGrpSpPr>
            <p:cNvPr id="18" name="Group 18"/>
            <p:cNvGrpSpPr/>
            <p:nvPr/>
          </p:nvGrpSpPr>
          <p:grpSpPr>
            <a:xfrm>
              <a:off x="25101" y="25101"/>
              <a:ext cx="1419386" cy="1419386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 rot="-2700000">
              <a:off x="215216" y="215216"/>
              <a:ext cx="1039155" cy="1039155"/>
            </a:xfrm>
            <a:custGeom>
              <a:avLst/>
              <a:gdLst/>
              <a:ahLst/>
              <a:cxnLst/>
              <a:rect l="l" t="t" r="r" b="b"/>
              <a:pathLst>
                <a:path w="1039155" h="1039155">
                  <a:moveTo>
                    <a:pt x="0" y="0"/>
                  </a:moveTo>
                  <a:lnTo>
                    <a:pt x="1039156" y="0"/>
                  </a:lnTo>
                  <a:lnTo>
                    <a:pt x="1039156" y="1039156"/>
                  </a:lnTo>
                  <a:lnTo>
                    <a:pt x="0" y="10391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88907" y="583530"/>
            <a:ext cx="5733104" cy="1103747"/>
            <a:chOff x="0" y="0"/>
            <a:chExt cx="1509953" cy="29069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09953" cy="290699"/>
            </a:xfrm>
            <a:custGeom>
              <a:avLst/>
              <a:gdLst/>
              <a:ahLst/>
              <a:cxnLst/>
              <a:rect l="l" t="t" r="r" b="b"/>
              <a:pathLst>
                <a:path w="1509953" h="290699">
                  <a:moveTo>
                    <a:pt x="70220" y="0"/>
                  </a:moveTo>
                  <a:lnTo>
                    <a:pt x="1439733" y="0"/>
                  </a:lnTo>
                  <a:cubicBezTo>
                    <a:pt x="1478515" y="0"/>
                    <a:pt x="1509953" y="31439"/>
                    <a:pt x="1509953" y="70220"/>
                  </a:cubicBezTo>
                  <a:lnTo>
                    <a:pt x="1509953" y="220478"/>
                  </a:lnTo>
                  <a:cubicBezTo>
                    <a:pt x="1509953" y="259260"/>
                    <a:pt x="1478515" y="290699"/>
                    <a:pt x="1439733" y="290699"/>
                  </a:cubicBezTo>
                  <a:lnTo>
                    <a:pt x="70220" y="290699"/>
                  </a:lnTo>
                  <a:cubicBezTo>
                    <a:pt x="31439" y="290699"/>
                    <a:pt x="0" y="259260"/>
                    <a:pt x="0" y="220478"/>
                  </a:cubicBezTo>
                  <a:lnTo>
                    <a:pt x="0" y="70220"/>
                  </a:lnTo>
                  <a:cubicBezTo>
                    <a:pt x="0" y="31439"/>
                    <a:pt x="31439" y="0"/>
                    <a:pt x="7022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509953" cy="328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2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73389" y="244801"/>
            <a:ext cx="10494190" cy="9797399"/>
            <a:chOff x="0" y="0"/>
            <a:chExt cx="2763902" cy="25803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63902" cy="2580385"/>
            </a:xfrm>
            <a:custGeom>
              <a:avLst/>
              <a:gdLst/>
              <a:ahLst/>
              <a:cxnLst/>
              <a:rect l="l" t="t" r="r" b="b"/>
              <a:pathLst>
                <a:path w="2763902" h="2580385">
                  <a:moveTo>
                    <a:pt x="38362" y="0"/>
                  </a:moveTo>
                  <a:lnTo>
                    <a:pt x="2725540" y="0"/>
                  </a:lnTo>
                  <a:cubicBezTo>
                    <a:pt x="2735714" y="0"/>
                    <a:pt x="2745472" y="4042"/>
                    <a:pt x="2752666" y="11236"/>
                  </a:cubicBezTo>
                  <a:cubicBezTo>
                    <a:pt x="2759860" y="18430"/>
                    <a:pt x="2763902" y="28188"/>
                    <a:pt x="2763902" y="38362"/>
                  </a:cubicBezTo>
                  <a:lnTo>
                    <a:pt x="2763902" y="2542023"/>
                  </a:lnTo>
                  <a:cubicBezTo>
                    <a:pt x="2763902" y="2552197"/>
                    <a:pt x="2759860" y="2561955"/>
                    <a:pt x="2752666" y="2569149"/>
                  </a:cubicBezTo>
                  <a:cubicBezTo>
                    <a:pt x="2745472" y="2576343"/>
                    <a:pt x="2735714" y="2580385"/>
                    <a:pt x="2725540" y="2580385"/>
                  </a:cubicBezTo>
                  <a:lnTo>
                    <a:pt x="38362" y="2580385"/>
                  </a:lnTo>
                  <a:cubicBezTo>
                    <a:pt x="28188" y="2580385"/>
                    <a:pt x="18430" y="2576343"/>
                    <a:pt x="11236" y="2569149"/>
                  </a:cubicBezTo>
                  <a:cubicBezTo>
                    <a:pt x="4042" y="2561955"/>
                    <a:pt x="0" y="2552197"/>
                    <a:pt x="0" y="2542023"/>
                  </a:cubicBezTo>
                  <a:lnTo>
                    <a:pt x="0" y="38362"/>
                  </a:lnTo>
                  <a:cubicBezTo>
                    <a:pt x="0" y="28188"/>
                    <a:pt x="4042" y="18430"/>
                    <a:pt x="11236" y="11236"/>
                  </a:cubicBezTo>
                  <a:cubicBezTo>
                    <a:pt x="18430" y="4042"/>
                    <a:pt x="28188" y="0"/>
                    <a:pt x="3836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63902" cy="2618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5924" y="2884526"/>
            <a:ext cx="7240593" cy="4517948"/>
            <a:chOff x="0" y="0"/>
            <a:chExt cx="1906987" cy="11899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06987" cy="1189912"/>
            </a:xfrm>
            <a:custGeom>
              <a:avLst/>
              <a:gdLst/>
              <a:ahLst/>
              <a:cxnLst/>
              <a:rect l="l" t="t" r="r" b="b"/>
              <a:pathLst>
                <a:path w="1906987" h="1189912">
                  <a:moveTo>
                    <a:pt x="55600" y="0"/>
                  </a:moveTo>
                  <a:lnTo>
                    <a:pt x="1851387" y="0"/>
                  </a:lnTo>
                  <a:cubicBezTo>
                    <a:pt x="1882094" y="0"/>
                    <a:pt x="1906987" y="24893"/>
                    <a:pt x="1906987" y="55600"/>
                  </a:cubicBezTo>
                  <a:lnTo>
                    <a:pt x="1906987" y="1134312"/>
                  </a:lnTo>
                  <a:cubicBezTo>
                    <a:pt x="1906987" y="1165019"/>
                    <a:pt x="1882094" y="1189912"/>
                    <a:pt x="1851387" y="1189912"/>
                  </a:cubicBezTo>
                  <a:lnTo>
                    <a:pt x="55600" y="1189912"/>
                  </a:lnTo>
                  <a:cubicBezTo>
                    <a:pt x="24893" y="1189912"/>
                    <a:pt x="0" y="1165019"/>
                    <a:pt x="0" y="1134312"/>
                  </a:cubicBezTo>
                  <a:lnTo>
                    <a:pt x="0" y="55600"/>
                  </a:lnTo>
                  <a:cubicBezTo>
                    <a:pt x="0" y="24893"/>
                    <a:pt x="24893" y="0"/>
                    <a:pt x="556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906987" cy="1228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0" y="4438241"/>
            <a:ext cx="7209885" cy="1420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sz="4759" dirty="0">
                <a:solidFill>
                  <a:srgbClr val="0132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 &amp; FUTURE SCOPE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52967" y="1980537"/>
            <a:ext cx="10735033" cy="626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425" lvl="1" indent="-318213" algn="l">
              <a:lnSpc>
                <a:spcPts val="4126"/>
              </a:lnSpc>
              <a:buFont typeface="Arial"/>
              <a:buChar char="•"/>
            </a:pPr>
            <a:r>
              <a:rPr lang="en-US" sz="29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✅ Built a full scraping + analysis pipeline with no API access</a:t>
            </a:r>
          </a:p>
          <a:p>
            <a:pPr marL="636425" lvl="1" indent="-318213" algn="l">
              <a:lnSpc>
                <a:spcPts val="4126"/>
              </a:lnSpc>
              <a:buFont typeface="Arial"/>
              <a:buChar char="•"/>
            </a:pPr>
            <a:r>
              <a:rPr lang="en-US" sz="29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🧠 Extracted and processed ~3 million deliveries</a:t>
            </a:r>
          </a:p>
          <a:p>
            <a:pPr marL="636425" lvl="1" indent="-318213" algn="l">
              <a:lnSpc>
                <a:spcPts val="4126"/>
              </a:lnSpc>
              <a:buFont typeface="Arial"/>
              <a:buChar char="•"/>
            </a:pPr>
            <a:r>
              <a:rPr lang="en-US" sz="29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📊 Generated meaningful visual insights using real match data</a:t>
            </a:r>
          </a:p>
          <a:p>
            <a:pPr marL="636425" lvl="1" indent="-318213" algn="l">
              <a:lnSpc>
                <a:spcPts val="4126"/>
              </a:lnSpc>
              <a:buFont typeface="Arial"/>
              <a:buChar char="•"/>
            </a:pPr>
            <a:r>
              <a:rPr lang="en-US" sz="29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🔮 Future work:</a:t>
            </a:r>
          </a:p>
          <a:p>
            <a:pPr marL="1272850" lvl="2" indent="-424283" algn="l">
              <a:lnSpc>
                <a:spcPts val="4126"/>
              </a:lnSpc>
              <a:buFont typeface="Arial"/>
              <a:buChar char="⚬"/>
            </a:pPr>
            <a:r>
              <a:rPr lang="en-US" sz="29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Enable live scraping (if token obtained)</a:t>
            </a:r>
          </a:p>
          <a:p>
            <a:pPr marL="1272850" lvl="2" indent="-424283" algn="l">
              <a:lnSpc>
                <a:spcPts val="4126"/>
              </a:lnSpc>
              <a:buFont typeface="Arial"/>
              <a:buChar char="⚬"/>
            </a:pPr>
            <a:r>
              <a:rPr lang="en-US" sz="29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Apply machine learning for win prediction, player clustering</a:t>
            </a:r>
          </a:p>
          <a:p>
            <a:pPr marL="1272850" lvl="2" indent="-424283" algn="l">
              <a:lnSpc>
                <a:spcPts val="4126"/>
              </a:lnSpc>
              <a:buFont typeface="Arial"/>
              <a:buChar char="⚬"/>
            </a:pPr>
            <a:r>
              <a:rPr lang="en-US" sz="29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Build a dashboard for fans, teams, analysts</a:t>
            </a:r>
          </a:p>
          <a:p>
            <a:pPr marL="1272850" lvl="2" indent="-424283" algn="l">
              <a:lnSpc>
                <a:spcPts val="4126"/>
              </a:lnSpc>
              <a:buFont typeface="Arial"/>
              <a:buChar char="⚬"/>
            </a:pPr>
            <a:r>
              <a:rPr lang="en-US" sz="29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Collaborate with sports data communities</a:t>
            </a:r>
          </a:p>
          <a:p>
            <a:pPr algn="l">
              <a:lnSpc>
                <a:spcPts val="4126"/>
              </a:lnSpc>
              <a:spcBef>
                <a:spcPct val="0"/>
              </a:spcBef>
            </a:pPr>
            <a:endParaRPr lang="en-US" sz="2947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2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907" y="244801"/>
            <a:ext cx="6997220" cy="9797399"/>
            <a:chOff x="0" y="0"/>
            <a:chExt cx="1409446" cy="19734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09446" cy="1973485"/>
            </a:xfrm>
            <a:custGeom>
              <a:avLst/>
              <a:gdLst/>
              <a:ahLst/>
              <a:cxnLst/>
              <a:rect l="l" t="t" r="r" b="b"/>
              <a:pathLst>
                <a:path w="1409446" h="1973485">
                  <a:moveTo>
                    <a:pt x="55321" y="0"/>
                  </a:moveTo>
                  <a:lnTo>
                    <a:pt x="1354125" y="0"/>
                  </a:lnTo>
                  <a:cubicBezTo>
                    <a:pt x="1368797" y="0"/>
                    <a:pt x="1382868" y="5828"/>
                    <a:pt x="1393243" y="16203"/>
                  </a:cubicBezTo>
                  <a:cubicBezTo>
                    <a:pt x="1403618" y="26578"/>
                    <a:pt x="1409446" y="40649"/>
                    <a:pt x="1409446" y="55321"/>
                  </a:cubicBezTo>
                  <a:lnTo>
                    <a:pt x="1409446" y="1918163"/>
                  </a:lnTo>
                  <a:cubicBezTo>
                    <a:pt x="1409446" y="1948717"/>
                    <a:pt x="1384678" y="1973485"/>
                    <a:pt x="1354125" y="1973485"/>
                  </a:cubicBezTo>
                  <a:lnTo>
                    <a:pt x="55321" y="1973485"/>
                  </a:lnTo>
                  <a:cubicBezTo>
                    <a:pt x="24768" y="1973485"/>
                    <a:pt x="0" y="1948717"/>
                    <a:pt x="0" y="1918163"/>
                  </a:cubicBezTo>
                  <a:lnTo>
                    <a:pt x="0" y="55321"/>
                  </a:lnTo>
                  <a:cubicBezTo>
                    <a:pt x="0" y="24768"/>
                    <a:pt x="24768" y="0"/>
                    <a:pt x="55321" y="0"/>
                  </a:cubicBezTo>
                  <a:close/>
                </a:path>
              </a:pathLst>
            </a:custGeom>
            <a:blipFill>
              <a:blip r:embed="rId2"/>
              <a:stretch>
                <a:fillRect l="-25937" r="-49085"/>
              </a:stretch>
            </a:blipFill>
            <a:ln w="19050" cap="rnd">
              <a:solidFill>
                <a:srgbClr val="013263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43868" y="244801"/>
            <a:ext cx="10755225" cy="9797399"/>
            <a:chOff x="0" y="0"/>
            <a:chExt cx="2832652" cy="25803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32652" cy="2580385"/>
            </a:xfrm>
            <a:custGeom>
              <a:avLst/>
              <a:gdLst/>
              <a:ahLst/>
              <a:cxnLst/>
              <a:rect l="l" t="t" r="r" b="b"/>
              <a:pathLst>
                <a:path w="2832652" h="2580385">
                  <a:moveTo>
                    <a:pt x="37431" y="0"/>
                  </a:moveTo>
                  <a:lnTo>
                    <a:pt x="2795221" y="0"/>
                  </a:lnTo>
                  <a:cubicBezTo>
                    <a:pt x="2815893" y="0"/>
                    <a:pt x="2832652" y="16758"/>
                    <a:pt x="2832652" y="37431"/>
                  </a:cubicBezTo>
                  <a:lnTo>
                    <a:pt x="2832652" y="2542954"/>
                  </a:lnTo>
                  <a:cubicBezTo>
                    <a:pt x="2832652" y="2552881"/>
                    <a:pt x="2828708" y="2562402"/>
                    <a:pt x="2821688" y="2569422"/>
                  </a:cubicBezTo>
                  <a:cubicBezTo>
                    <a:pt x="2814669" y="2576441"/>
                    <a:pt x="2805148" y="2580385"/>
                    <a:pt x="2795221" y="2580385"/>
                  </a:cubicBezTo>
                  <a:lnTo>
                    <a:pt x="37431" y="2580385"/>
                  </a:lnTo>
                  <a:cubicBezTo>
                    <a:pt x="27504" y="2580385"/>
                    <a:pt x="17983" y="2576441"/>
                    <a:pt x="10963" y="2569422"/>
                  </a:cubicBezTo>
                  <a:cubicBezTo>
                    <a:pt x="3944" y="2562402"/>
                    <a:pt x="0" y="2552881"/>
                    <a:pt x="0" y="2542954"/>
                  </a:cubicBezTo>
                  <a:lnTo>
                    <a:pt x="0" y="37431"/>
                  </a:lnTo>
                  <a:cubicBezTo>
                    <a:pt x="0" y="27504"/>
                    <a:pt x="3944" y="17983"/>
                    <a:pt x="10963" y="10963"/>
                  </a:cubicBezTo>
                  <a:cubicBezTo>
                    <a:pt x="17983" y="3944"/>
                    <a:pt x="27504" y="0"/>
                    <a:pt x="3743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32652" cy="2618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166953" y="1316181"/>
            <a:ext cx="1064955" cy="1064955"/>
            <a:chOff x="0" y="0"/>
            <a:chExt cx="1419940" cy="1419940"/>
          </a:xfrm>
        </p:grpSpPr>
        <p:grpSp>
          <p:nvGrpSpPr>
            <p:cNvPr id="8" name="Group 8"/>
            <p:cNvGrpSpPr/>
            <p:nvPr/>
          </p:nvGrpSpPr>
          <p:grpSpPr>
            <a:xfrm>
              <a:off x="24253" y="24253"/>
              <a:ext cx="1371434" cy="1371434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132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 rot="-2700000">
              <a:off x="207945" y="207945"/>
              <a:ext cx="1004049" cy="1004049"/>
            </a:xfrm>
            <a:custGeom>
              <a:avLst/>
              <a:gdLst/>
              <a:ahLst/>
              <a:cxnLst/>
              <a:rect l="l" t="t" r="r" b="b"/>
              <a:pathLst>
                <a:path w="1004049" h="1004049">
                  <a:moveTo>
                    <a:pt x="0" y="0"/>
                  </a:moveTo>
                  <a:lnTo>
                    <a:pt x="1004050" y="0"/>
                  </a:lnTo>
                  <a:lnTo>
                    <a:pt x="1004050" y="1004050"/>
                  </a:lnTo>
                  <a:lnTo>
                    <a:pt x="0" y="1004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212535" y="8211535"/>
            <a:ext cx="1028575" cy="102857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132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2700000">
            <a:off x="16350304" y="8349304"/>
            <a:ext cx="753037" cy="753037"/>
          </a:xfrm>
          <a:custGeom>
            <a:avLst/>
            <a:gdLst/>
            <a:ahLst/>
            <a:cxnLst/>
            <a:rect l="l" t="t" r="r" b="b"/>
            <a:pathLst>
              <a:path w="753037" h="753037">
                <a:moveTo>
                  <a:pt x="0" y="0"/>
                </a:moveTo>
                <a:lnTo>
                  <a:pt x="753037" y="0"/>
                </a:lnTo>
                <a:lnTo>
                  <a:pt x="753037" y="753037"/>
                </a:lnTo>
                <a:lnTo>
                  <a:pt x="0" y="753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6" name="Group 16"/>
          <p:cNvGrpSpPr/>
          <p:nvPr/>
        </p:nvGrpSpPr>
        <p:grpSpPr>
          <a:xfrm>
            <a:off x="9429807" y="1316181"/>
            <a:ext cx="7811303" cy="1064955"/>
            <a:chOff x="0" y="0"/>
            <a:chExt cx="2057298" cy="28048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57298" cy="280482"/>
            </a:xfrm>
            <a:custGeom>
              <a:avLst/>
              <a:gdLst/>
              <a:ahLst/>
              <a:cxnLst/>
              <a:rect l="l" t="t" r="r" b="b"/>
              <a:pathLst>
                <a:path w="2057298" h="280482">
                  <a:moveTo>
                    <a:pt x="99112" y="0"/>
                  </a:moveTo>
                  <a:lnTo>
                    <a:pt x="1958186" y="0"/>
                  </a:lnTo>
                  <a:cubicBezTo>
                    <a:pt x="1984472" y="0"/>
                    <a:pt x="2009682" y="10442"/>
                    <a:pt x="2028269" y="29029"/>
                  </a:cubicBezTo>
                  <a:cubicBezTo>
                    <a:pt x="2046856" y="47616"/>
                    <a:pt x="2057298" y="72826"/>
                    <a:pt x="2057298" y="99112"/>
                  </a:cubicBezTo>
                  <a:lnTo>
                    <a:pt x="2057298" y="181370"/>
                  </a:lnTo>
                  <a:cubicBezTo>
                    <a:pt x="2057298" y="207656"/>
                    <a:pt x="2046856" y="232866"/>
                    <a:pt x="2028269" y="251453"/>
                  </a:cubicBezTo>
                  <a:cubicBezTo>
                    <a:pt x="2009682" y="270040"/>
                    <a:pt x="1984472" y="280482"/>
                    <a:pt x="1958186" y="280482"/>
                  </a:cubicBezTo>
                  <a:lnTo>
                    <a:pt x="99112" y="280482"/>
                  </a:lnTo>
                  <a:cubicBezTo>
                    <a:pt x="72826" y="280482"/>
                    <a:pt x="47616" y="270040"/>
                    <a:pt x="29029" y="251453"/>
                  </a:cubicBezTo>
                  <a:cubicBezTo>
                    <a:pt x="10442" y="232866"/>
                    <a:pt x="0" y="207656"/>
                    <a:pt x="0" y="181370"/>
                  </a:cubicBezTo>
                  <a:lnTo>
                    <a:pt x="0" y="99112"/>
                  </a:lnTo>
                  <a:cubicBezTo>
                    <a:pt x="0" y="72826"/>
                    <a:pt x="10442" y="47616"/>
                    <a:pt x="29029" y="29029"/>
                  </a:cubicBezTo>
                  <a:cubicBezTo>
                    <a:pt x="47616" y="10442"/>
                    <a:pt x="72826" y="0"/>
                    <a:pt x="991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13263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057298" cy="3185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969055" y="8175155"/>
            <a:ext cx="7811303" cy="1064955"/>
            <a:chOff x="0" y="0"/>
            <a:chExt cx="2057298" cy="28048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57298" cy="280482"/>
            </a:xfrm>
            <a:custGeom>
              <a:avLst/>
              <a:gdLst/>
              <a:ahLst/>
              <a:cxnLst/>
              <a:rect l="l" t="t" r="r" b="b"/>
              <a:pathLst>
                <a:path w="2057298" h="280482">
                  <a:moveTo>
                    <a:pt x="99112" y="0"/>
                  </a:moveTo>
                  <a:lnTo>
                    <a:pt x="1958186" y="0"/>
                  </a:lnTo>
                  <a:cubicBezTo>
                    <a:pt x="1984472" y="0"/>
                    <a:pt x="2009682" y="10442"/>
                    <a:pt x="2028269" y="29029"/>
                  </a:cubicBezTo>
                  <a:cubicBezTo>
                    <a:pt x="2046856" y="47616"/>
                    <a:pt x="2057298" y="72826"/>
                    <a:pt x="2057298" y="99112"/>
                  </a:cubicBezTo>
                  <a:lnTo>
                    <a:pt x="2057298" y="181370"/>
                  </a:lnTo>
                  <a:cubicBezTo>
                    <a:pt x="2057298" y="207656"/>
                    <a:pt x="2046856" y="232866"/>
                    <a:pt x="2028269" y="251453"/>
                  </a:cubicBezTo>
                  <a:cubicBezTo>
                    <a:pt x="2009682" y="270040"/>
                    <a:pt x="1984472" y="280482"/>
                    <a:pt x="1958186" y="280482"/>
                  </a:cubicBezTo>
                  <a:lnTo>
                    <a:pt x="99112" y="280482"/>
                  </a:lnTo>
                  <a:cubicBezTo>
                    <a:pt x="72826" y="280482"/>
                    <a:pt x="47616" y="270040"/>
                    <a:pt x="29029" y="251453"/>
                  </a:cubicBezTo>
                  <a:cubicBezTo>
                    <a:pt x="10442" y="232866"/>
                    <a:pt x="0" y="207656"/>
                    <a:pt x="0" y="181370"/>
                  </a:cubicBezTo>
                  <a:lnTo>
                    <a:pt x="0" y="99112"/>
                  </a:lnTo>
                  <a:cubicBezTo>
                    <a:pt x="0" y="72826"/>
                    <a:pt x="10442" y="47616"/>
                    <a:pt x="29029" y="29029"/>
                  </a:cubicBezTo>
                  <a:cubicBezTo>
                    <a:pt x="47616" y="10442"/>
                    <a:pt x="72826" y="0"/>
                    <a:pt x="991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13263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057298" cy="3185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969055" y="3581697"/>
            <a:ext cx="9504852" cy="368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01"/>
              </a:lnSpc>
            </a:pPr>
            <a:r>
              <a:rPr lang="en-US" sz="14389">
                <a:solidFill>
                  <a:srgbClr val="0132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</a:t>
            </a:r>
          </a:p>
          <a:p>
            <a:pPr algn="ctr">
              <a:lnSpc>
                <a:spcPts val="14101"/>
              </a:lnSpc>
            </a:pPr>
            <a:r>
              <a:rPr lang="en-US" sz="14389">
                <a:solidFill>
                  <a:srgbClr val="0132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815</Words>
  <Application>Microsoft Office PowerPoint</Application>
  <PresentationFormat>Custom</PresentationFormat>
  <Paragraphs>108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Inter</vt:lpstr>
      <vt:lpstr>League Spartan</vt:lpstr>
      <vt:lpstr>Calibri</vt:lpstr>
      <vt:lpstr>Canva Sans</vt:lpstr>
      <vt:lpstr>Arial</vt:lpstr>
      <vt:lpstr>Inter Medium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Simple Modern Cricket Sport Presentation</dc:title>
  <cp:lastModifiedBy>Sudheesh Gangishetty</cp:lastModifiedBy>
  <cp:revision>3</cp:revision>
  <dcterms:created xsi:type="dcterms:W3CDTF">2006-08-16T00:00:00Z</dcterms:created>
  <dcterms:modified xsi:type="dcterms:W3CDTF">2026-03-18T01:14:34Z</dcterms:modified>
  <dc:identifier>DAGit0NsETE</dc:identifier>
</cp:coreProperties>
</file>